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26" y="7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493070630"/>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2067471488"/>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1023040483"/>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E2AE27-3130-490E-B41B-9F0B928F0F80}" type="datetimeFigureOut">
              <a:rPr lang="en-PK" smtClean="0"/>
              <a:t>10/02/2026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1096948593"/>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E2AE27-3130-490E-B41B-9F0B928F0F80}" type="datetimeFigureOut">
              <a:rPr lang="en-PK" smtClean="0"/>
              <a:t>10/02/2026</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3596700715"/>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3"/>
          <p:cNvSpPr>
            <a:spLocks noGrp="1"/>
          </p:cNvSpPr>
          <p:nvPr>
            <p:ph type="ftr" sz="quarter" idx="11"/>
          </p:nvPr>
        </p:nvSpPr>
        <p:spPr/>
        <p:txBody>
          <a:bodyPr/>
          <a:lstStyle/>
          <a:p>
            <a:endParaRPr lang="en-PK"/>
          </a:p>
        </p:txBody>
      </p:sp>
      <p:sp>
        <p:nvSpPr>
          <p:cNvPr id="6" name="Slide Number Placeholder 4"/>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1553222130"/>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2"/>
          <p:cNvSpPr>
            <a:spLocks noGrp="1"/>
          </p:cNvSpPr>
          <p:nvPr>
            <p:ph type="ftr" sz="quarter" idx="11"/>
          </p:nvPr>
        </p:nvSpPr>
        <p:spPr/>
        <p:txBody>
          <a:bodyPr/>
          <a:lstStyle/>
          <a:p>
            <a:endParaRPr lang="en-PK"/>
          </a:p>
        </p:txBody>
      </p:sp>
      <p:sp>
        <p:nvSpPr>
          <p:cNvPr id="6" name="Slide Number Placeholder 3"/>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3625968396"/>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5"/>
          <p:cNvSpPr>
            <a:spLocks noGrp="1"/>
          </p:cNvSpPr>
          <p:nvPr>
            <p:ph type="ftr" sz="quarter" idx="11"/>
          </p:nvPr>
        </p:nvSpPr>
        <p:spPr/>
        <p:txBody>
          <a:bodyPr/>
          <a:lstStyle/>
          <a:p>
            <a:endParaRPr lang="en-PK"/>
          </a:p>
        </p:txBody>
      </p:sp>
      <p:sp>
        <p:nvSpPr>
          <p:cNvPr id="6" name="Slide Number Placeholder 6"/>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278769587"/>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E2AE27-3130-490E-B41B-9F0B928F0F80}" type="datetimeFigureOut">
              <a:rPr lang="en-PK" smtClean="0"/>
              <a:t>10/02/2026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7239316"/>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E2AE27-3130-490E-B41B-9F0B928F0F80}" type="datetimeFigureOut">
              <a:rPr lang="en-PK" smtClean="0"/>
              <a:t>10/02/2026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2592599428"/>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2081448278"/>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23530160"/>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190501779"/>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4"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3797548731"/>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4"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643468051"/>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1851845605"/>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E2AE27-3130-490E-B41B-9F0B928F0F80}" type="datetimeFigureOut">
              <a:rPr lang="en-PK" smtClean="0"/>
              <a:t>10/02/2026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A2D997-B5C7-44B9-98D7-1659B2A1581B}" type="slidenum">
              <a:rPr lang="en-PK" smtClean="0"/>
              <a:t>‹#›</a:t>
            </a:fld>
            <a:endParaRPr lang="en-PK"/>
          </a:p>
        </p:txBody>
      </p:sp>
    </p:spTree>
    <p:extLst>
      <p:ext uri="{BB962C8B-B14F-4D97-AF65-F5344CB8AC3E}">
        <p14:creationId xmlns:p14="http://schemas.microsoft.com/office/powerpoint/2010/main" val="1811895814"/>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1" name="voltage.wav"/>
          </p:stSnd>
        </p:sndAc>
      </p:transition>
    </mc:Choice>
    <mc:Fallback xmlns="">
      <p:transition spd="slow" advTm="0">
        <p:push dir="r"/>
        <p:sndAc>
          <p:stSnd>
            <p:snd r:embed="rId3" name="voltage.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audio" Target="../media/audio1.wav"/><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audio" Target="../media/audio1.wav"/><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E2AE27-3130-490E-B41B-9F0B928F0F80}" type="datetimeFigureOut">
              <a:rPr lang="en-PK" smtClean="0"/>
              <a:t>10/02/2026</a:t>
            </a:fld>
            <a:endParaRPr lang="en-PK"/>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PK"/>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0A2D997-B5C7-44B9-98D7-1659B2A1581B}" type="slidenum">
              <a:rPr lang="en-PK" smtClean="0"/>
              <a:t>‹#›</a:t>
            </a:fld>
            <a:endParaRPr lang="en-PK"/>
          </a:p>
        </p:txBody>
      </p:sp>
    </p:spTree>
    <p:extLst>
      <p:ext uri="{BB962C8B-B14F-4D97-AF65-F5344CB8AC3E}">
        <p14:creationId xmlns:p14="http://schemas.microsoft.com/office/powerpoint/2010/main" val="241430893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5000" advTm="0">
        <p:push dir="r"/>
        <p:sndAc>
          <p:stSnd>
            <p:snd r:embed="rId19" name="voltage.wav"/>
          </p:stSnd>
        </p:sndAc>
      </p:transition>
    </mc:Choice>
    <mc:Fallback xmlns="">
      <p:transition spd="slow" advTm="0">
        <p:push dir="r"/>
        <p:sndAc>
          <p:stSnd>
            <p:snd r:embed="rId24" name="voltage.wav"/>
          </p:stSnd>
        </p:sndAc>
      </p:transition>
    </mc:Fallback>
  </mc:AlternateConten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hyperlink" Target="https://technofaq.org/posts/2018/01/our-ignorant-resistance-to-cyber-security/" TargetMode="Externa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4.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4E6F-3FC9-3CAF-61B1-3B9068A910E6}"/>
              </a:ext>
            </a:extLst>
          </p:cNvPr>
          <p:cNvSpPr>
            <a:spLocks noGrp="1"/>
          </p:cNvSpPr>
          <p:nvPr>
            <p:ph type="ctrTitle"/>
          </p:nvPr>
        </p:nvSpPr>
        <p:spPr/>
        <p:txBody>
          <a:bodyPr/>
          <a:lstStyle/>
          <a:p>
            <a:endParaRPr lang="en-PK"/>
          </a:p>
        </p:txBody>
      </p:sp>
      <p:sp>
        <p:nvSpPr>
          <p:cNvPr id="3" name="Subtitle 2">
            <a:extLst>
              <a:ext uri="{FF2B5EF4-FFF2-40B4-BE49-F238E27FC236}">
                <a16:creationId xmlns:a16="http://schemas.microsoft.com/office/drawing/2014/main" id="{0B22879C-1F14-19D9-58EF-17498D3317CE}"/>
              </a:ext>
            </a:extLst>
          </p:cNvPr>
          <p:cNvSpPr>
            <a:spLocks noGrp="1"/>
          </p:cNvSpPr>
          <p:nvPr>
            <p:ph type="subTitle" idx="1"/>
          </p:nvPr>
        </p:nvSpPr>
        <p:spPr/>
        <p:txBody>
          <a:bodyPr/>
          <a:lstStyle/>
          <a:p>
            <a:endParaRPr lang="en-PK"/>
          </a:p>
        </p:txBody>
      </p:sp>
      <p:pic>
        <p:nvPicPr>
          <p:cNvPr id="1026" name="Picture 2">
            <a:extLst>
              <a:ext uri="{FF2B5EF4-FFF2-40B4-BE49-F238E27FC236}">
                <a16:creationId xmlns:a16="http://schemas.microsoft.com/office/drawing/2014/main" id="{81E80A20-FA97-EB41-887A-385D30DDC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14" y="0"/>
            <a:ext cx="1224642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A1AF743-33DB-83DD-2E21-67E8CFBE13FA}"/>
              </a:ext>
            </a:extLst>
          </p:cNvPr>
          <p:cNvSpPr txBox="1"/>
          <p:nvPr/>
        </p:nvSpPr>
        <p:spPr>
          <a:xfrm>
            <a:off x="1524000" y="4060587"/>
            <a:ext cx="3086100" cy="369332"/>
          </a:xfrm>
          <a:prstGeom prst="rect">
            <a:avLst/>
          </a:prstGeom>
          <a:noFill/>
        </p:spPr>
        <p:txBody>
          <a:bodyPr wrap="square" rtlCol="0">
            <a:spAutoFit/>
          </a:bodyPr>
          <a:lstStyle/>
          <a:p>
            <a:r>
              <a:rPr lang="en-US" dirty="0">
                <a:solidFill>
                  <a:srgbClr val="339933"/>
                </a:solidFill>
              </a:rPr>
              <a:t>By: Fazal Abbas</a:t>
            </a:r>
            <a:endParaRPr lang="en-PK" dirty="0">
              <a:solidFill>
                <a:srgbClr val="339933"/>
              </a:solidFill>
            </a:endParaRPr>
          </a:p>
        </p:txBody>
      </p:sp>
    </p:spTree>
    <p:extLst>
      <p:ext uri="{BB962C8B-B14F-4D97-AF65-F5344CB8AC3E}">
        <p14:creationId xmlns:p14="http://schemas.microsoft.com/office/powerpoint/2010/main" val="1652476122"/>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4" name="voltage.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FF8AB-C283-9DF0-493E-57AFC909907B}"/>
              </a:ext>
            </a:extLst>
          </p:cNvPr>
          <p:cNvSpPr>
            <a:spLocks noGrp="1"/>
          </p:cNvSpPr>
          <p:nvPr>
            <p:ph type="title"/>
          </p:nvPr>
        </p:nvSpPr>
        <p:spPr>
          <a:xfrm>
            <a:off x="838200" y="365125"/>
            <a:ext cx="10515600" cy="625475"/>
          </a:xfrm>
        </p:spPr>
        <p:txBody>
          <a:bodyPr>
            <a:normAutofit fontScale="90000"/>
          </a:bodyPr>
          <a:lstStyle/>
          <a:p>
            <a:pPr algn="ctr"/>
            <a:r>
              <a:rPr lang="en-US" b="1" u="sng" dirty="0">
                <a:solidFill>
                  <a:srgbClr val="339933"/>
                </a:solidFill>
              </a:rPr>
              <a:t>Introduction</a:t>
            </a:r>
            <a:endParaRPr lang="en-PK" b="1" u="sng" dirty="0">
              <a:solidFill>
                <a:srgbClr val="339933"/>
              </a:solidFill>
            </a:endParaRPr>
          </a:p>
        </p:txBody>
      </p:sp>
      <p:sp>
        <p:nvSpPr>
          <p:cNvPr id="6" name="Content Placeholder 5">
            <a:extLst>
              <a:ext uri="{FF2B5EF4-FFF2-40B4-BE49-F238E27FC236}">
                <a16:creationId xmlns:a16="http://schemas.microsoft.com/office/drawing/2014/main" id="{CBA498E9-F9AD-65FB-FA12-F9EC9AC53A69}"/>
              </a:ext>
            </a:extLst>
          </p:cNvPr>
          <p:cNvSpPr>
            <a:spLocks noGrp="1"/>
          </p:cNvSpPr>
          <p:nvPr>
            <p:ph idx="1"/>
          </p:nvPr>
        </p:nvSpPr>
        <p:spPr>
          <a:xfrm>
            <a:off x="838200" y="990600"/>
            <a:ext cx="10515600" cy="5186363"/>
          </a:xfrm>
        </p:spPr>
        <p:txBody>
          <a:bodyPr/>
          <a:lstStyle/>
          <a:p>
            <a:r>
              <a:rPr lang="en-US" dirty="0"/>
              <a:t>Since the 1970s, the use of computers has expanded rapidly, becoming integral to both business operations and everyday life.</a:t>
            </a:r>
          </a:p>
          <a:p>
            <a:endParaRPr lang="en-US" dirty="0"/>
          </a:p>
          <a:p>
            <a:r>
              <a:rPr lang="en-US" dirty="0"/>
              <a:t>While incredibly useful, computers are vulnerable to a variety of security risks.</a:t>
            </a:r>
          </a:p>
          <a:p>
            <a:endParaRPr lang="en-US" dirty="0"/>
          </a:p>
          <a:p>
            <a:r>
              <a:rPr lang="en-US" dirty="0"/>
              <a:t>Pioneers like IBM and other early tech companies began offering security software solutions as early as the 1970s.</a:t>
            </a:r>
          </a:p>
          <a:p>
            <a:endParaRPr lang="en-US" dirty="0"/>
          </a:p>
          <a:p>
            <a:r>
              <a:rPr lang="en-US" dirty="0"/>
              <a:t>As technology and digital platforms have evolved, so too have the nature and complexity of these threats.</a:t>
            </a:r>
          </a:p>
          <a:p>
            <a:endParaRPr lang="en-US" dirty="0"/>
          </a:p>
          <a:p>
            <a:r>
              <a:rPr lang="en-US" dirty="0"/>
              <a:t>To combat these growing dangers, the field of Cyber Security has emerged, focusing on protecting digital information and systems.</a:t>
            </a:r>
            <a:endParaRPr lang="en-PK" dirty="0"/>
          </a:p>
        </p:txBody>
      </p:sp>
    </p:spTree>
    <p:extLst>
      <p:ext uri="{BB962C8B-B14F-4D97-AF65-F5344CB8AC3E}">
        <p14:creationId xmlns:p14="http://schemas.microsoft.com/office/powerpoint/2010/main" val="3312151923"/>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3"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 calcmode="lin" valueType="num">
                                      <p:cBhvr additive="base">
                                        <p:cTn id="2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 calcmode="lin" valueType="num">
                                      <p:cBhvr additive="base">
                                        <p:cTn id="31"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C8910A-91D0-5B5A-A043-2343F8DF36F6}"/>
              </a:ext>
            </a:extLst>
          </p:cNvPr>
          <p:cNvSpPr txBox="1"/>
          <p:nvPr/>
        </p:nvSpPr>
        <p:spPr>
          <a:xfrm>
            <a:off x="685800" y="660400"/>
            <a:ext cx="9588500" cy="3693319"/>
          </a:xfrm>
          <a:prstGeom prst="rect">
            <a:avLst/>
          </a:prstGeom>
          <a:noFill/>
        </p:spPr>
        <p:txBody>
          <a:bodyPr wrap="square" rtlCol="0">
            <a:spAutoFit/>
          </a:bodyPr>
          <a:lstStyle/>
          <a:p>
            <a:r>
              <a:rPr lang="en-US" b="0" i="0" dirty="0">
                <a:effectLst/>
                <a:latin typeface="__Inter_bdbe8e"/>
              </a:rPr>
              <a:t>• This concept encompasses a defense mechanism designed to safeguard computers and networks against theft, </a:t>
            </a:r>
            <a:br>
              <a:rPr lang="en-US" b="0" i="0" dirty="0">
                <a:effectLst/>
                <a:latin typeface="__Inter_bdbe8e"/>
              </a:rPr>
            </a:br>
            <a:r>
              <a:rPr lang="en-US" b="0" i="0" dirty="0">
                <a:effectLst/>
                <a:latin typeface="__Inter_bdbe8e"/>
              </a:rPr>
              <a:t>• This concept encompasses a defense mechanism designed to safeguard computers and networks against theft, damage, interruptions, unauthorized modifications, or the exposure of sensitive data originating from electronic files, software applications, or hardware components.</a:t>
            </a:r>
          </a:p>
          <a:p>
            <a:r>
              <a:rPr lang="en-US" b="0" i="0" dirty="0">
                <a:effectLst/>
                <a:latin typeface="__Inter_bdbe8e"/>
              </a:rPr>
              <a:t>• While the basic idea appears straightforward, the reality is far more complex due to the proliferation of advanced technologies such as smartphones, websites, smart TVs, and the Internet of Things (IoT), all of which demand a sophisticated and multi-layered cybersecurity framework. damage, interruptions, unauthorized modifications, or the exposure of sensitive data originating from electronic files, software applications, or hardware components.</a:t>
            </a:r>
            <a:br>
              <a:rPr lang="en-US" b="0" i="0" dirty="0">
                <a:effectLst/>
                <a:latin typeface="__Inter_bdbe8e"/>
              </a:rPr>
            </a:br>
            <a:r>
              <a:rPr lang="en-US" b="0" i="0" dirty="0">
                <a:effectLst/>
                <a:latin typeface="__Inter_bdbe8e"/>
              </a:rPr>
              <a:t> • While the basic idea appears straightforward, the reality is far more complex due to the proliferation of advanced technologies such as smartphones, websites, smart TVs, and the Internet of Things (IoT), all of which demand a sophisticated and multi-layered cybersecurity framework.</a:t>
            </a:r>
            <a:endParaRPr lang="en-PK" dirty="0"/>
          </a:p>
        </p:txBody>
      </p:sp>
      <p:pic>
        <p:nvPicPr>
          <p:cNvPr id="4" name="Picture 3" descr="A close up of a circuit board&#10;&#10;AI-generated content may be incorrect.">
            <a:extLst>
              <a:ext uri="{FF2B5EF4-FFF2-40B4-BE49-F238E27FC236}">
                <a16:creationId xmlns:a16="http://schemas.microsoft.com/office/drawing/2014/main" id="{31FD58D7-3D0B-968D-E2F9-4B6809416F9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882900" y="4640731"/>
            <a:ext cx="4965700" cy="1746353"/>
          </a:xfrm>
          <a:prstGeom prst="rect">
            <a:avLst/>
          </a:prstGeom>
        </p:spPr>
      </p:pic>
    </p:spTree>
    <p:extLst>
      <p:ext uri="{BB962C8B-B14F-4D97-AF65-F5344CB8AC3E}">
        <p14:creationId xmlns:p14="http://schemas.microsoft.com/office/powerpoint/2010/main" val="875099333"/>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5"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843CF-1284-FF82-B904-F10CB27ED20D}"/>
              </a:ext>
            </a:extLst>
          </p:cNvPr>
          <p:cNvSpPr>
            <a:spLocks noGrp="1"/>
          </p:cNvSpPr>
          <p:nvPr>
            <p:ph type="title"/>
          </p:nvPr>
        </p:nvSpPr>
        <p:spPr>
          <a:xfrm>
            <a:off x="1154954" y="279400"/>
            <a:ext cx="8825659" cy="1054100"/>
          </a:xfrm>
        </p:spPr>
        <p:txBody>
          <a:bodyPr/>
          <a:lstStyle/>
          <a:p>
            <a:pPr algn="ctr"/>
            <a:r>
              <a:rPr lang="en-US" sz="4400" b="1" i="0" u="sng" dirty="0">
                <a:solidFill>
                  <a:srgbClr val="339933"/>
                </a:solidFill>
                <a:effectLst/>
                <a:latin typeface="__Inter_bdbe8e"/>
              </a:rPr>
              <a:t>Core Components of Cyber Security</a:t>
            </a:r>
            <a:br>
              <a:rPr lang="en-US" b="1" i="0" dirty="0">
                <a:solidFill>
                  <a:srgbClr val="000000"/>
                </a:solidFill>
                <a:effectLst/>
                <a:latin typeface="__Inter_bdbe8e"/>
              </a:rPr>
            </a:br>
            <a:endParaRPr lang="en-PK" dirty="0"/>
          </a:p>
        </p:txBody>
      </p:sp>
      <p:sp>
        <p:nvSpPr>
          <p:cNvPr id="3" name="Text Placeholder 2">
            <a:extLst>
              <a:ext uri="{FF2B5EF4-FFF2-40B4-BE49-F238E27FC236}">
                <a16:creationId xmlns:a16="http://schemas.microsoft.com/office/drawing/2014/main" id="{4023733C-CB7C-AAAB-FE4E-68D47529FE50}"/>
              </a:ext>
            </a:extLst>
          </p:cNvPr>
          <p:cNvSpPr>
            <a:spLocks noGrp="1"/>
          </p:cNvSpPr>
          <p:nvPr>
            <p:ph type="body" sz="half" idx="2"/>
          </p:nvPr>
        </p:nvSpPr>
        <p:spPr>
          <a:xfrm>
            <a:off x="1154954" y="1219200"/>
            <a:ext cx="8825659" cy="5359400"/>
          </a:xfrm>
        </p:spPr>
        <p:txBody>
          <a:bodyPr>
            <a:normAutofit fontScale="85000" lnSpcReduction="20000"/>
          </a:bodyPr>
          <a:lstStyle/>
          <a:p>
            <a:r>
              <a:rPr lang="en-US" dirty="0"/>
              <a:t>Cyber security encompasses various protection types, tailored to different functions and platforms:</a:t>
            </a:r>
            <a:br>
              <a:rPr lang="en-US" dirty="0"/>
            </a:br>
            <a:endParaRPr lang="en-US" dirty="0"/>
          </a:p>
          <a:p>
            <a:r>
              <a:rPr lang="en-US" b="1" u="sng" dirty="0">
                <a:solidFill>
                  <a:srgbClr val="339933"/>
                </a:solidFill>
              </a:rPr>
              <a:t>Data Protection:</a:t>
            </a:r>
          </a:p>
          <a:p>
            <a:r>
              <a:rPr lang="en-US" dirty="0"/>
              <a:t>Every network, device, and software system contains valuable data from owners, clients, or third parties. Data protection ensures this information remains secure by restricting access exclusively to authorized users, thereby preventing unauthorized data breaches.</a:t>
            </a:r>
            <a:br>
              <a:rPr lang="en-US" dirty="0"/>
            </a:br>
            <a:endParaRPr lang="en-US" dirty="0"/>
          </a:p>
          <a:p>
            <a:r>
              <a:rPr lang="en-US" b="1" u="sng" dirty="0">
                <a:solidFill>
                  <a:srgbClr val="339933"/>
                </a:solidFill>
              </a:rPr>
              <a:t>Application Security:</a:t>
            </a:r>
          </a:p>
          <a:p>
            <a:r>
              <a:rPr lang="en-US" dirty="0"/>
              <a:t>Security measures should be integrated from the initial design phase of any software. Regular updates are essential to incorporate new defenses, enabling early detection and mitigation of emerging threats.</a:t>
            </a:r>
            <a:br>
              <a:rPr lang="en-US" dirty="0"/>
            </a:br>
            <a:endParaRPr lang="en-US" dirty="0"/>
          </a:p>
          <a:p>
            <a:r>
              <a:rPr lang="en-US" b="1" u="sng" dirty="0">
                <a:solidFill>
                  <a:srgbClr val="339933"/>
                </a:solidFill>
              </a:rPr>
              <a:t>Mobile Security:</a:t>
            </a:r>
          </a:p>
          <a:p>
            <a:r>
              <a:rPr lang="en-US" dirty="0"/>
              <a:t>Mobile devices such as smartphones and tablets face risks from both physical connections like USB devices and wireless channels including Bluetooth and internet access. Protecting these endpoints is critical to maintaining overall security.</a:t>
            </a:r>
            <a:br>
              <a:rPr lang="en-US" dirty="0"/>
            </a:br>
            <a:endParaRPr lang="en-US" dirty="0"/>
          </a:p>
          <a:p>
            <a:r>
              <a:rPr lang="en-US" b="1" u="sng" dirty="0">
                <a:solidFill>
                  <a:srgbClr val="339933"/>
                </a:solidFill>
              </a:rPr>
              <a:t>Network Security:</a:t>
            </a:r>
          </a:p>
          <a:p>
            <a:r>
              <a:rPr lang="en-US" dirty="0"/>
              <a:t>Networks connect multiple users, increasing vulnerability to intrusions and cyberattacks. Effective security involves not only technical safeguards but also vigilant administration and monitoring by network hosts or administrators.</a:t>
            </a:r>
            <a:endParaRPr lang="en-PK" dirty="0"/>
          </a:p>
        </p:txBody>
      </p:sp>
    </p:spTree>
    <p:extLst>
      <p:ext uri="{BB962C8B-B14F-4D97-AF65-F5344CB8AC3E}">
        <p14:creationId xmlns:p14="http://schemas.microsoft.com/office/powerpoint/2010/main" val="2412308102"/>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3"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randombar(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CBD474-5183-C74C-CAD2-F5E1BEF041A4}"/>
              </a:ext>
            </a:extLst>
          </p:cNvPr>
          <p:cNvSpPr txBox="1"/>
          <p:nvPr/>
        </p:nvSpPr>
        <p:spPr>
          <a:xfrm>
            <a:off x="1130300" y="660400"/>
            <a:ext cx="9131300" cy="6463308"/>
          </a:xfrm>
          <a:prstGeom prst="rect">
            <a:avLst/>
          </a:prstGeom>
          <a:noFill/>
        </p:spPr>
        <p:txBody>
          <a:bodyPr wrap="square" rtlCol="0">
            <a:spAutoFit/>
          </a:bodyPr>
          <a:lstStyle/>
          <a:p>
            <a:r>
              <a:rPr lang="en-US" b="1" u="sng" dirty="0">
                <a:solidFill>
                  <a:srgbClr val="339933"/>
                </a:solidFill>
              </a:rPr>
              <a:t>Endpoint Security: </a:t>
            </a:r>
            <a:br>
              <a:rPr lang="en-US" dirty="0"/>
            </a:br>
            <a:r>
              <a:rPr lang="en-US" dirty="0"/>
              <a:t>The primary vulnerabilities lie with users and their devices, which are common targets for threats like malware. While antivirus programs offer protection, the most effective defense is educating users to be cautious—such as avoiding unknown USB devices and not clicking on suspicious links.</a:t>
            </a:r>
          </a:p>
          <a:p>
            <a:endParaRPr lang="en-US" dirty="0"/>
          </a:p>
          <a:p>
            <a:r>
              <a:rPr lang="en-US" b="1" u="sng" dirty="0">
                <a:solidFill>
                  <a:srgbClr val="339933"/>
                </a:solidFill>
              </a:rPr>
              <a:t>Cloud Security: </a:t>
            </a:r>
            <a:br>
              <a:rPr lang="en-US" dirty="0"/>
            </a:br>
            <a:r>
              <a:rPr lang="en-US" dirty="0"/>
              <a:t>Cloud storage allows users to save and access data online. Although cloud providers implement their own cybersecurity measures, users must also exercise vigilance in managing their accounts to prevent data breaches caused by careless handling.</a:t>
            </a:r>
          </a:p>
          <a:p>
            <a:endParaRPr lang="en-US" dirty="0"/>
          </a:p>
          <a:p>
            <a:r>
              <a:rPr lang="en-US" b="1" u="sng" dirty="0">
                <a:solidFill>
                  <a:srgbClr val="339933"/>
                </a:solidFill>
              </a:rPr>
              <a:t>Database and Infrastructure Security: </a:t>
            </a:r>
            <a:br>
              <a:rPr lang="en-US" dirty="0"/>
            </a:br>
            <a:r>
              <a:rPr lang="en-US" dirty="0"/>
              <a:t>Security measures must protect not only software but also physical hardware, as both can be compromised or stolen. A comprehensive approach includes safeguarding digital assets and physical equipment.</a:t>
            </a:r>
          </a:p>
          <a:p>
            <a:endParaRPr lang="en-US" dirty="0"/>
          </a:p>
          <a:p>
            <a:r>
              <a:rPr lang="en-US" b="1" u="sng" dirty="0">
                <a:solidFill>
                  <a:srgbClr val="339933"/>
                </a:solidFill>
              </a:rPr>
              <a:t>Business Continuity and Disaster Recovery: </a:t>
            </a:r>
            <a:br>
              <a:rPr lang="en-US" dirty="0"/>
            </a:br>
            <a:r>
              <a:rPr lang="en-US" dirty="0"/>
              <a:t>Unexpected events can lead to data loss. Organizations should establish systems to back up data and recover lost information. Additionally, creating a Business Continuity Plan ensures operations can continue even when some resources or data are unavailable.</a:t>
            </a:r>
          </a:p>
          <a:p>
            <a:endParaRPr lang="en-US" dirty="0"/>
          </a:p>
        </p:txBody>
      </p:sp>
    </p:spTree>
    <p:extLst>
      <p:ext uri="{BB962C8B-B14F-4D97-AF65-F5344CB8AC3E}">
        <p14:creationId xmlns:p14="http://schemas.microsoft.com/office/powerpoint/2010/main" val="2809974121"/>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3"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style.rotation</p:attrName>
                                        </p:attrNameLst>
                                      </p:cBhvr>
                                      <p:tavLst>
                                        <p:tav tm="0">
                                          <p:val>
                                            <p:fltVal val="0"/>
                                          </p:val>
                                        </p:tav>
                                        <p:tav tm="100000">
                                          <p:val>
                                            <p:fltVal val="90"/>
                                          </p:val>
                                        </p:tav>
                                      </p:tavLst>
                                    </p:anim>
                                    <p:animEffect transition="out" filter="fade">
                                      <p:cBhvr>
                                        <p:cTn id="9" dur="1000"/>
                                        <p:tgtEl>
                                          <p:spTgt spid="2"/>
                                        </p:tgtEl>
                                      </p:cBhvr>
                                    </p:animEffect>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88A4-2639-F019-067F-9B1498B6E672}"/>
              </a:ext>
            </a:extLst>
          </p:cNvPr>
          <p:cNvSpPr>
            <a:spLocks noGrp="1"/>
          </p:cNvSpPr>
          <p:nvPr>
            <p:ph type="title"/>
          </p:nvPr>
        </p:nvSpPr>
        <p:spPr>
          <a:xfrm>
            <a:off x="1154954" y="203200"/>
            <a:ext cx="8825659" cy="901700"/>
          </a:xfrm>
        </p:spPr>
        <p:txBody>
          <a:bodyPr/>
          <a:lstStyle/>
          <a:p>
            <a:pPr algn="ctr"/>
            <a:r>
              <a:rPr lang="en-US" sz="5400" i="0" u="sng" dirty="0">
                <a:solidFill>
                  <a:srgbClr val="339933"/>
                </a:solidFill>
                <a:effectLst/>
                <a:latin typeface="__Inter_bdbe8e"/>
              </a:rPr>
              <a:t>Why is Cybersecurity Crucial?</a:t>
            </a:r>
            <a:br>
              <a:rPr lang="en-US" sz="5400" i="0" u="sng" dirty="0">
                <a:solidFill>
                  <a:srgbClr val="339933"/>
                </a:solidFill>
                <a:effectLst/>
                <a:latin typeface="__Inter_bdbe8e"/>
              </a:rPr>
            </a:br>
            <a:br>
              <a:rPr lang="en-US" sz="5400" u="sng" dirty="0">
                <a:solidFill>
                  <a:srgbClr val="339933"/>
                </a:solidFill>
              </a:rPr>
            </a:br>
            <a:endParaRPr lang="en-PK" sz="5400" u="sng" dirty="0">
              <a:solidFill>
                <a:srgbClr val="339933"/>
              </a:solidFill>
            </a:endParaRPr>
          </a:p>
        </p:txBody>
      </p:sp>
      <p:sp>
        <p:nvSpPr>
          <p:cNvPr id="3" name="Text Placeholder 2">
            <a:extLst>
              <a:ext uri="{FF2B5EF4-FFF2-40B4-BE49-F238E27FC236}">
                <a16:creationId xmlns:a16="http://schemas.microsoft.com/office/drawing/2014/main" id="{FAF5240E-3C8C-A93F-1BDA-A5EB6DC45E40}"/>
              </a:ext>
            </a:extLst>
          </p:cNvPr>
          <p:cNvSpPr>
            <a:spLocks noGrp="1"/>
          </p:cNvSpPr>
          <p:nvPr>
            <p:ph type="body" sz="half" idx="2"/>
          </p:nvPr>
        </p:nvSpPr>
        <p:spPr>
          <a:xfrm>
            <a:off x="1154954" y="1104900"/>
            <a:ext cx="8825659" cy="4914900"/>
          </a:xfrm>
        </p:spPr>
        <p:txBody>
          <a:bodyPr>
            <a:normAutofit lnSpcReduction="10000"/>
          </a:bodyPr>
          <a:lstStyle/>
          <a:p>
            <a:pPr marL="285750" indent="-285750">
              <a:buFont typeface="Arial" panose="020B0604020202020204" pitchFamily="34" charset="0"/>
              <a:buChar char="•"/>
            </a:pPr>
            <a:r>
              <a:rPr lang="en-US" dirty="0"/>
              <a:t>Cyber threats pose significant risks, potentially damaging data, hardware, software, and an organization's reputation. Beyond these, issues like data misuse and leaks are common dangers. It's vital to safeguard all forms of sensitive information, including intellectual property, non-public personal data (NPI), and confidential corporate details.</a:t>
            </a:r>
            <a:br>
              <a:rPr lang="en-US" dirty="0"/>
            </a:br>
            <a:endParaRPr lang="en-US" dirty="0"/>
          </a:p>
          <a:p>
            <a:pPr marL="285750" indent="-285750">
              <a:buFont typeface="Arial" panose="020B0604020202020204" pitchFamily="34" charset="0"/>
              <a:buChar char="•"/>
            </a:pPr>
            <a:r>
              <a:rPr lang="en-US" dirty="0"/>
              <a:t>Cybercriminals continuously devise sophisticated methods to access sensitive data, making basic defenses like antivirus software insufficient. Consequently, many governments have enacted cybersecurity regulations to combat these threats. A notable example is the European Union's General Data Protection Regulation (GDPR). Numerous other nations are also establishing legal frameworks to address cyber risks.</a:t>
            </a:r>
            <a:br>
              <a:rPr lang="en-US" dirty="0"/>
            </a:br>
            <a:endParaRPr lang="en-US" dirty="0"/>
          </a:p>
          <a:p>
            <a:pPr marL="285750" indent="-285750">
              <a:buFont typeface="Arial" panose="020B0604020202020204" pitchFamily="34" charset="0"/>
              <a:buChar char="•"/>
            </a:pPr>
            <a:r>
              <a:rPr lang="en-US" dirty="0"/>
              <a:t>Unfortunately, data breaches sometimes originate from within government agencies themselves. Therefore, individuals and stakeholders must exercise caution in handling data. Institutions, in particular, need to implement robust cybersecurity systems designed to prevent both accidental and intentional data leaks.</a:t>
            </a:r>
          </a:p>
        </p:txBody>
      </p:sp>
    </p:spTree>
    <p:extLst>
      <p:ext uri="{BB962C8B-B14F-4D97-AF65-F5344CB8AC3E}">
        <p14:creationId xmlns:p14="http://schemas.microsoft.com/office/powerpoint/2010/main" val="1296008606"/>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3"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2"/>
                                        </p:tgtEl>
                                      </p:cBhvr>
                                    </p:animEffect>
                                    <p:anim calcmode="lin" valueType="num">
                                      <p:cBhvr>
                                        <p:cTn id="7" dur="2000"/>
                                        <p:tgtEl>
                                          <p:spTgt spid="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2"/>
                                        </p:tgtEl>
                                        <p:attrNameLst>
                                          <p:attrName>ppt_h</p:attrName>
                                        </p:attrNameLst>
                                      </p:cBhvr>
                                      <p:tavLst>
                                        <p:tav tm="0">
                                          <p:val>
                                            <p:strVal val="ppt_h"/>
                                          </p:val>
                                        </p:tav>
                                        <p:tav tm="100000">
                                          <p:val>
                                            <p:strVal val="ppt_h"/>
                                          </p:val>
                                        </p:tav>
                                      </p:tavLst>
                                    </p:anim>
                                    <p:set>
                                      <p:cBhvr>
                                        <p:cTn id="9" dur="1" fill="hold">
                                          <p:stCondLst>
                                            <p:cond delay="1999"/>
                                          </p:stCondLst>
                                        </p:cTn>
                                        <p:tgtEl>
                                          <p:spTgt spid="2"/>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37" presetClass="path" presetSubtype="0" accel="50000" decel="50000" fill="hold" grpId="0" nodeType="clickEffect">
                                  <p:stCondLst>
                                    <p:cond delay="0"/>
                                  </p:stCondLst>
                                  <p:childTnLst>
                                    <p:animMotion origin="layout" path="M 0 0 L 0.067 0.04 C 0.081 0.049 0.102 0.054 0.124 0.054 C 0.149 0.054 0.169 0.049 0.183 0.04 L 0.25 0 E" pathEditMode="relative" ptsTypes="">
                                      <p:cBhvr>
                                        <p:cTn id="13" dur="2000" fill="hold"/>
                                        <p:tgtEl>
                                          <p:spTgt spid="3">
                                            <p:txEl>
                                              <p:pRg st="0" end="0"/>
                                            </p:txEl>
                                          </p:spTgt>
                                        </p:tgtEl>
                                        <p:attrNameLst>
                                          <p:attrName>ppt_x</p:attrName>
                                          <p:attrName>ppt_y</p:attrName>
                                        </p:attrNameLst>
                                      </p:cBhvr>
                                    </p:animMotion>
                                  </p:childTnLst>
                                </p:cTn>
                              </p:par>
                            </p:childTnLst>
                          </p:cTn>
                        </p:par>
                      </p:childTnLst>
                    </p:cTn>
                  </p:par>
                  <p:par>
                    <p:cTn id="14" fill="hold">
                      <p:stCondLst>
                        <p:cond delay="indefinite"/>
                      </p:stCondLst>
                      <p:childTnLst>
                        <p:par>
                          <p:cTn id="15" fill="hold">
                            <p:stCondLst>
                              <p:cond delay="0"/>
                            </p:stCondLst>
                            <p:childTnLst>
                              <p:par>
                                <p:cTn id="16" presetID="37" presetClass="path" presetSubtype="0" accel="50000" decel="50000" fill="hold" grpId="0" nodeType="clickEffect">
                                  <p:stCondLst>
                                    <p:cond delay="0"/>
                                  </p:stCondLst>
                                  <p:childTnLst>
                                    <p:animMotion origin="layout" path="M 0 0 L 0.067 0.04 C 0.081 0.049 0.102 0.054 0.124 0.054 C 0.149 0.054 0.169 0.049 0.183 0.04 L 0.25 0 E" pathEditMode="relative" ptsTypes="">
                                      <p:cBhvr>
                                        <p:cTn id="17" dur="2000" fill="hold"/>
                                        <p:tgtEl>
                                          <p:spTgt spid="3">
                                            <p:txEl>
                                              <p:pRg st="1" end="1"/>
                                            </p:txEl>
                                          </p:spTgt>
                                        </p:tgtEl>
                                        <p:attrNameLst>
                                          <p:attrName>ppt_x</p:attrName>
                                          <p:attrName>ppt_y</p:attrName>
                                        </p:attrNameLst>
                                      </p:cBhvr>
                                    </p:animMotion>
                                  </p:childTnLst>
                                </p:cTn>
                              </p:par>
                            </p:childTnLst>
                          </p:cTn>
                        </p:par>
                      </p:childTnLst>
                    </p:cTn>
                  </p:par>
                  <p:par>
                    <p:cTn id="18" fill="hold">
                      <p:stCondLst>
                        <p:cond delay="indefinite"/>
                      </p:stCondLst>
                      <p:childTnLst>
                        <p:par>
                          <p:cTn id="19" fill="hold">
                            <p:stCondLst>
                              <p:cond delay="0"/>
                            </p:stCondLst>
                            <p:childTnLst>
                              <p:par>
                                <p:cTn id="20" presetID="37" presetClass="path" presetSubtype="0" accel="50000" decel="50000" fill="hold" grpId="0" nodeType="clickEffect">
                                  <p:stCondLst>
                                    <p:cond delay="0"/>
                                  </p:stCondLst>
                                  <p:childTnLst>
                                    <p:animMotion origin="layout" path="M 0 0 L 0.067 0.04 C 0.081 0.049 0.102 0.054 0.124 0.054 C 0.149 0.054 0.169 0.049 0.183 0.04 L 0.25 0 E" pathEditMode="relative" ptsTypes="">
                                      <p:cBhvr>
                                        <p:cTn id="21" dur="2000" fill="hold"/>
                                        <p:tgtEl>
                                          <p:spTgt spid="3">
                                            <p:txEl>
                                              <p:pRg st="2" end="2"/>
                                            </p:tx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3031-7A00-3B8F-DF89-5CF485F7EA88}"/>
              </a:ext>
            </a:extLst>
          </p:cNvPr>
          <p:cNvSpPr>
            <a:spLocks noGrp="1"/>
          </p:cNvSpPr>
          <p:nvPr>
            <p:ph type="title"/>
          </p:nvPr>
        </p:nvSpPr>
        <p:spPr>
          <a:xfrm>
            <a:off x="646111" y="452718"/>
            <a:ext cx="3621089" cy="537882"/>
          </a:xfrm>
        </p:spPr>
        <p:txBody>
          <a:bodyPr/>
          <a:lstStyle/>
          <a:p>
            <a:r>
              <a:rPr lang="en-US" sz="4000" i="0" u="sng" dirty="0">
                <a:solidFill>
                  <a:srgbClr val="339933"/>
                </a:solidFill>
                <a:effectLst/>
                <a:latin typeface="__Inter_bdbe8e"/>
              </a:rPr>
              <a:t>CYBER THREATS</a:t>
            </a:r>
            <a:br>
              <a:rPr lang="en-US" sz="4000" i="0" u="sng" dirty="0">
                <a:solidFill>
                  <a:srgbClr val="339933"/>
                </a:solidFill>
                <a:effectLst/>
                <a:latin typeface="__Inter_bdbe8e"/>
              </a:rPr>
            </a:br>
            <a:br>
              <a:rPr lang="en-US" sz="4000" u="sng" dirty="0">
                <a:solidFill>
                  <a:srgbClr val="339933"/>
                </a:solidFill>
              </a:rPr>
            </a:br>
            <a:endParaRPr lang="en-PK" sz="4000" u="sng" dirty="0">
              <a:solidFill>
                <a:srgbClr val="339933"/>
              </a:solidFill>
            </a:endParaRPr>
          </a:p>
        </p:txBody>
      </p:sp>
      <p:sp>
        <p:nvSpPr>
          <p:cNvPr id="3" name="Content Placeholder 2">
            <a:extLst>
              <a:ext uri="{FF2B5EF4-FFF2-40B4-BE49-F238E27FC236}">
                <a16:creationId xmlns:a16="http://schemas.microsoft.com/office/drawing/2014/main" id="{12679395-653F-AD4E-09FC-BEF3DBA6B362}"/>
              </a:ext>
            </a:extLst>
          </p:cNvPr>
          <p:cNvSpPr>
            <a:spLocks noGrp="1"/>
          </p:cNvSpPr>
          <p:nvPr>
            <p:ph sz="half" idx="1"/>
          </p:nvPr>
        </p:nvSpPr>
        <p:spPr>
          <a:xfrm>
            <a:off x="646112" y="1219201"/>
            <a:ext cx="4281488" cy="5186081"/>
          </a:xfrm>
        </p:spPr>
        <p:txBody>
          <a:bodyPr>
            <a:noAutofit/>
          </a:bodyPr>
          <a:lstStyle/>
          <a:p>
            <a:pPr algn="l">
              <a:buFont typeface="Arial" panose="020B0604020202020204" pitchFamily="34" charset="0"/>
              <a:buChar char="•"/>
            </a:pPr>
            <a:r>
              <a:rPr lang="en-US" b="0" i="0" dirty="0">
                <a:solidFill>
                  <a:schemeClr val="tx1">
                    <a:lumMod val="95000"/>
                  </a:schemeClr>
                </a:solidFill>
                <a:effectLst/>
                <a:latin typeface="__Inter_bdbe8e"/>
              </a:rPr>
              <a:t>Cyber threats fall into three main categories: cybercrime, cyber-attacks, and cyber-terrorism.</a:t>
            </a:r>
          </a:p>
          <a:p>
            <a:pPr algn="l">
              <a:buFont typeface="Arial" panose="020B0604020202020204" pitchFamily="34" charset="0"/>
              <a:buChar char="•"/>
            </a:pPr>
            <a:r>
              <a:rPr lang="en-US" b="0" i="0" dirty="0">
                <a:solidFill>
                  <a:schemeClr val="tx1">
                    <a:lumMod val="95000"/>
                  </a:schemeClr>
                </a:solidFill>
                <a:effectLst/>
                <a:latin typeface="__Inter_bdbe8e"/>
              </a:rPr>
              <a:t>Cybercrime involves individuals or groups orchestrating illegal activities primarily for financial gain or to cause disruption.</a:t>
            </a:r>
          </a:p>
          <a:p>
            <a:pPr algn="l">
              <a:buFont typeface="Arial" panose="020B0604020202020204" pitchFamily="34" charset="0"/>
              <a:buChar char="•"/>
            </a:pPr>
            <a:r>
              <a:rPr lang="en-US" b="0" i="0" dirty="0">
                <a:solidFill>
                  <a:schemeClr val="tx1">
                    <a:lumMod val="95000"/>
                  </a:schemeClr>
                </a:solidFill>
                <a:effectLst/>
                <a:latin typeface="__Inter_bdbe8e"/>
              </a:rPr>
              <a:t>Cyber-attacks are typically motivated by political agendas.</a:t>
            </a:r>
          </a:p>
          <a:p>
            <a:pPr algn="l">
              <a:buFont typeface="Arial" panose="020B0604020202020204" pitchFamily="34" charset="0"/>
              <a:buChar char="•"/>
            </a:pPr>
            <a:r>
              <a:rPr lang="en-US" b="0" i="0" dirty="0">
                <a:solidFill>
                  <a:schemeClr val="tx1">
                    <a:lumMod val="95000"/>
                  </a:schemeClr>
                </a:solidFill>
                <a:effectLst/>
                <a:latin typeface="__Inter_bdbe8e"/>
              </a:rPr>
              <a:t>Cyber-terrorism consists of large-scale operations designed to instill fear and panic.</a:t>
            </a:r>
          </a:p>
          <a:p>
            <a:pPr algn="l">
              <a:buFont typeface="Arial" panose="020B0604020202020204" pitchFamily="34" charset="0"/>
              <a:buChar char="•"/>
            </a:pPr>
            <a:r>
              <a:rPr lang="en-US" b="0" i="0" dirty="0">
                <a:solidFill>
                  <a:schemeClr val="tx1">
                    <a:lumMod val="95000"/>
                  </a:schemeClr>
                </a:solidFill>
                <a:effectLst/>
                <a:latin typeface="__Inter_bdbe8e"/>
              </a:rPr>
              <a:t>To carry out these threats, cybercriminals employ various techniques.</a:t>
            </a:r>
          </a:p>
          <a:p>
            <a:pPr algn="l">
              <a:buFont typeface="Arial" panose="020B0604020202020204" pitchFamily="34" charset="0"/>
              <a:buChar char="•"/>
            </a:pPr>
            <a:r>
              <a:rPr lang="en-US" b="0" i="0" dirty="0">
                <a:solidFill>
                  <a:schemeClr val="tx1">
                    <a:lumMod val="95000"/>
                  </a:schemeClr>
                </a:solidFill>
                <a:effectLst/>
                <a:latin typeface="__Inter_bdbe8e"/>
              </a:rPr>
              <a:t>Examples of these methods will be detailed on the following slide.</a:t>
            </a:r>
          </a:p>
          <a:p>
            <a:pPr marL="0" indent="0">
              <a:buNone/>
            </a:pPr>
            <a:br>
              <a:rPr lang="en-US" dirty="0">
                <a:solidFill>
                  <a:schemeClr val="tx1">
                    <a:lumMod val="95000"/>
                  </a:schemeClr>
                </a:solidFill>
              </a:rPr>
            </a:br>
            <a:endParaRPr lang="en-PK" dirty="0">
              <a:solidFill>
                <a:schemeClr val="tx1">
                  <a:lumMod val="95000"/>
                </a:schemeClr>
              </a:solidFill>
            </a:endParaRPr>
          </a:p>
        </p:txBody>
      </p:sp>
      <p:pic>
        <p:nvPicPr>
          <p:cNvPr id="9" name="Content Placeholder 5">
            <a:extLst>
              <a:ext uri="{FF2B5EF4-FFF2-40B4-BE49-F238E27FC236}">
                <a16:creationId xmlns:a16="http://schemas.microsoft.com/office/drawing/2014/main" id="{4ED66DD3-9C49-4F19-1007-E377CB702CD6}"/>
              </a:ext>
            </a:extLst>
          </p:cNvPr>
          <p:cNvPicPr>
            <a:picLocks noGrp="1" noChangeAspect="1"/>
          </p:cNvPicPr>
          <p:nvPr>
            <p:ph sz="half" idx="2"/>
          </p:nvPr>
        </p:nvPicPr>
        <p:blipFill>
          <a:blip r:embed="rId3"/>
          <a:stretch>
            <a:fillRect/>
          </a:stretch>
        </p:blipFill>
        <p:spPr>
          <a:xfrm>
            <a:off x="6096000" y="2555778"/>
            <a:ext cx="4652963" cy="2512925"/>
          </a:xfrm>
          <a:prstGeom prst="rect">
            <a:avLst/>
          </a:prstGeom>
        </p:spPr>
      </p:pic>
    </p:spTree>
    <p:extLst>
      <p:ext uri="{BB962C8B-B14F-4D97-AF65-F5344CB8AC3E}">
        <p14:creationId xmlns:p14="http://schemas.microsoft.com/office/powerpoint/2010/main" val="183459042"/>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4"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grpId="0" nodeType="clickEffect">
                                  <p:stCondLst>
                                    <p:cond delay="0"/>
                                  </p:stCondLst>
                                  <p:childTnLst>
                                    <p:animMotion origin="layout" path="M 0 0 L 0.125 0 C 0.181 0 0.25 0.069 0.25 0.125 L 0.25 0.25 E" pathEditMode="relative" ptsTypes="">
                                      <p:cBhvr>
                                        <p:cTn id="6" dur="2000" fill="hold"/>
                                        <p:tgtEl>
                                          <p:spTgt spid="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10" dur="2000" fill="hold"/>
                                        <p:tgtEl>
                                          <p:spTgt spid="3">
                                            <p:txEl>
                                              <p:pRg st="0" end="0"/>
                                            </p:txEl>
                                          </p:spTgt>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14" dur="2000" fill="hold"/>
                                        <p:tgtEl>
                                          <p:spTgt spid="3">
                                            <p:txEl>
                                              <p:pRg st="1" end="1"/>
                                            </p:txEl>
                                          </p:spTgt>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18" dur="2000" fill="hold"/>
                                        <p:tgtEl>
                                          <p:spTgt spid="3">
                                            <p:txEl>
                                              <p:pRg st="2" end="2"/>
                                            </p:txEl>
                                          </p:spTgt>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22" dur="2000" fill="hold"/>
                                        <p:tgtEl>
                                          <p:spTgt spid="3">
                                            <p:txEl>
                                              <p:pRg st="3" end="3"/>
                                            </p:txEl>
                                          </p:spTgt>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26" dur="2000" fill="hold"/>
                                        <p:tgtEl>
                                          <p:spTgt spid="3">
                                            <p:txEl>
                                              <p:pRg st="4" end="4"/>
                                            </p:txEl>
                                          </p:spTgt>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30" dur="2000" fill="hold"/>
                                        <p:tgtEl>
                                          <p:spTgt spid="3">
                                            <p:txEl>
                                              <p:pRg st="5" end="5"/>
                                            </p:txEl>
                                          </p:spTgt>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34" dur="2000" fill="hold"/>
                                        <p:tgtEl>
                                          <p:spTgt spid="3">
                                            <p:txEl>
                                              <p:pRg st="6" end="6"/>
                                            </p:tx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BFA9-6042-2873-F4E6-223E87C0D112}"/>
              </a:ext>
            </a:extLst>
          </p:cNvPr>
          <p:cNvSpPr>
            <a:spLocks noGrp="1"/>
          </p:cNvSpPr>
          <p:nvPr>
            <p:ph type="title"/>
          </p:nvPr>
        </p:nvSpPr>
        <p:spPr>
          <a:xfrm>
            <a:off x="1154954" y="254000"/>
            <a:ext cx="8825659" cy="927100"/>
          </a:xfrm>
        </p:spPr>
        <p:txBody>
          <a:bodyPr/>
          <a:lstStyle/>
          <a:p>
            <a:pPr algn="ctr"/>
            <a:r>
              <a:rPr lang="en-US" sz="4400" b="1" i="0" u="sng" dirty="0">
                <a:solidFill>
                  <a:srgbClr val="339933"/>
                </a:solidFill>
                <a:effectLst/>
                <a:latin typeface="__Inter_bdbe8e"/>
              </a:rPr>
              <a:t>Techniques Used in Cyber Attacks</a:t>
            </a:r>
            <a:br>
              <a:rPr lang="en-US" sz="4400" b="1" i="0" u="sng" dirty="0">
                <a:solidFill>
                  <a:srgbClr val="339933"/>
                </a:solidFill>
                <a:effectLst/>
                <a:latin typeface="__Inter_bdbe8e"/>
              </a:rPr>
            </a:br>
            <a:br>
              <a:rPr lang="en-US" sz="4400" b="1" u="sng" dirty="0">
                <a:solidFill>
                  <a:srgbClr val="339933"/>
                </a:solidFill>
              </a:rPr>
            </a:br>
            <a:endParaRPr lang="en-PK" sz="4400" b="1" u="sng" dirty="0">
              <a:solidFill>
                <a:srgbClr val="339933"/>
              </a:solidFill>
            </a:endParaRPr>
          </a:p>
        </p:txBody>
      </p:sp>
      <p:sp>
        <p:nvSpPr>
          <p:cNvPr id="3" name="Text Placeholder 2">
            <a:extLst>
              <a:ext uri="{FF2B5EF4-FFF2-40B4-BE49-F238E27FC236}">
                <a16:creationId xmlns:a16="http://schemas.microsoft.com/office/drawing/2014/main" id="{3DDD516A-CE8A-C339-317A-7C925ED48B85}"/>
              </a:ext>
            </a:extLst>
          </p:cNvPr>
          <p:cNvSpPr>
            <a:spLocks noGrp="1"/>
          </p:cNvSpPr>
          <p:nvPr>
            <p:ph type="body" sz="half" idx="2"/>
          </p:nvPr>
        </p:nvSpPr>
        <p:spPr>
          <a:xfrm>
            <a:off x="1154954" y="1181100"/>
            <a:ext cx="8825659" cy="4838700"/>
          </a:xfrm>
        </p:spPr>
        <p:txBody>
          <a:bodyPr>
            <a:normAutofit fontScale="77500" lnSpcReduction="20000"/>
          </a:bodyPr>
          <a:lstStyle/>
          <a:p>
            <a:r>
              <a:rPr lang="en-US" b="1" u="sng" dirty="0">
                <a:solidFill>
                  <a:srgbClr val="339933"/>
                </a:solidFill>
              </a:rPr>
              <a:t>Phishing: </a:t>
            </a:r>
            <a:br>
              <a:rPr lang="en-US" dirty="0"/>
            </a:br>
            <a:r>
              <a:rPr lang="en-US" dirty="0"/>
              <a:t>This is the most common cyber threat, involving deceptive messages that lure victims into clicking links leading to counterfeit websites or forms designed to steal sensitive personal data.</a:t>
            </a:r>
          </a:p>
          <a:p>
            <a:r>
              <a:rPr lang="en-US" b="1" u="sng" dirty="0">
                <a:solidFill>
                  <a:srgbClr val="339933"/>
                </a:solidFill>
              </a:rPr>
              <a:t>Malware: </a:t>
            </a:r>
            <a:br>
              <a:rPr lang="en-US" dirty="0"/>
            </a:br>
            <a:r>
              <a:rPr lang="en-US" dirty="0"/>
              <a:t>Short for Malicious Software, malware is a tool hackers use to infiltrate and control a victim’s device without permission.</a:t>
            </a:r>
          </a:p>
          <a:p>
            <a:r>
              <a:rPr lang="en-US" b="1" u="sng" dirty="0">
                <a:solidFill>
                  <a:srgbClr val="339933"/>
                </a:solidFill>
              </a:rPr>
              <a:t>SQL Injection: </a:t>
            </a:r>
            <a:br>
              <a:rPr lang="en-US" dirty="0"/>
            </a:br>
            <a:r>
              <a:rPr lang="en-US" dirty="0"/>
              <a:t>Named after Structured Query Language, this attack involves inserting malicious code into input fields to exploit vulnerabilities in database security.</a:t>
            </a:r>
          </a:p>
          <a:p>
            <a:r>
              <a:rPr lang="en-US" b="1" u="sng" dirty="0">
                <a:solidFill>
                  <a:srgbClr val="339933"/>
                </a:solidFill>
              </a:rPr>
              <a:t>Backdoor Access: </a:t>
            </a:r>
            <a:br>
              <a:rPr lang="en-US" dirty="0"/>
            </a:br>
            <a:r>
              <a:rPr lang="en-US" dirty="0"/>
              <a:t>As the term suggests, this method bypasses standard authentication processes, allowing unauthorized entry into software. These backdoors can be intentionally placed by developers or malicious actors and are notoriously difficult to detect.</a:t>
            </a:r>
          </a:p>
          <a:p>
            <a:r>
              <a:rPr lang="en-US" b="1" u="sng" dirty="0">
                <a:solidFill>
                  <a:srgbClr val="339933"/>
                </a:solidFill>
              </a:rPr>
              <a:t>Denial-of-Service (DoS) Attack: </a:t>
            </a:r>
            <a:br>
              <a:rPr lang="en-US" b="1" u="sng" dirty="0">
                <a:solidFill>
                  <a:srgbClr val="339933"/>
                </a:solidFill>
              </a:rPr>
            </a:br>
            <a:r>
              <a:rPr lang="en-US" dirty="0"/>
              <a:t>This tactic overwhelms a system by flooding it with excessive requests or incorrect login attempts, rendering the service unavailable. A related example includes networks of compromised "zombie" computers used to amplify the attack.</a:t>
            </a:r>
          </a:p>
          <a:p>
            <a:r>
              <a:rPr lang="en-US" b="1" u="sng" dirty="0">
                <a:solidFill>
                  <a:srgbClr val="339933"/>
                </a:solidFill>
              </a:rPr>
              <a:t>Direct-Access Attack:</a:t>
            </a:r>
            <a:br>
              <a:rPr lang="en-US" b="1" u="sng" dirty="0">
                <a:solidFill>
                  <a:srgbClr val="339933"/>
                </a:solidFill>
              </a:rPr>
            </a:br>
            <a:r>
              <a:rPr lang="en-US" dirty="0"/>
              <a:t>Unlike DoS attacks, this approach involves installing tools like keyloggers, worms, or hidden microphones to alter the operating system and gain direct control over the device.</a:t>
            </a:r>
          </a:p>
          <a:p>
            <a:r>
              <a:rPr lang="en-US" b="1" u="sng" dirty="0">
                <a:solidFill>
                  <a:srgbClr val="339933"/>
                </a:solidFill>
              </a:rPr>
              <a:t>Spoofing: </a:t>
            </a:r>
            <a:br>
              <a:rPr lang="en-US" dirty="0"/>
            </a:br>
            <a:r>
              <a:rPr lang="en-US" dirty="0"/>
              <a:t>This involves impersonation through falsified data, such as fake biometric identifiers, forged IP addresses, or counterfeit emails, to deceive systems or users.</a:t>
            </a:r>
          </a:p>
          <a:p>
            <a:endParaRPr lang="en-PK" dirty="0"/>
          </a:p>
        </p:txBody>
      </p:sp>
    </p:spTree>
    <p:extLst>
      <p:ext uri="{BB962C8B-B14F-4D97-AF65-F5344CB8AC3E}">
        <p14:creationId xmlns:p14="http://schemas.microsoft.com/office/powerpoint/2010/main" val="1308074350"/>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3"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accel="50000" decel="50000" fill="hold" grpId="0" nodeType="clickEffect">
                                  <p:stCondLst>
                                    <p:cond delay="0"/>
                                  </p:stCondLst>
                                  <p:childTnLst>
                                    <p:animMotion origin="layout" path="M 0 0 C 0.069 0 0.125 0.056 0.125 0.125 C 0.125 0.194 0.069 0.25 0 0.25 C -0.069 0.25 -0.125 0.194 -0.125 0.125 C -0.125 0.056 -0.069 0 0 0 Z" pathEditMode="relative" ptsTypes="">
                                      <p:cBhvr>
                                        <p:cTn id="6" dur="2000" fill="hold"/>
                                        <p:tgtEl>
                                          <p:spTgt spid="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6" presetClass="exit" presetSubtype="0" fill="hold" grpId="0" nodeType="clickEffect">
                                  <p:stCondLst>
                                    <p:cond delay="0"/>
                                  </p:stCondLst>
                                  <p:childTnLst>
                                    <p:animEffect transition="out" filter="wipe(down)">
                                      <p:cBhvr>
                                        <p:cTn id="10" dur="180" accel="50000">
                                          <p:stCondLst>
                                            <p:cond delay="1820"/>
                                          </p:stCondLst>
                                        </p:cTn>
                                        <p:tgtEl>
                                          <p:spTgt spid="3">
                                            <p:txEl>
                                              <p:pRg st="0" end="0"/>
                                            </p:txEl>
                                          </p:spTgt>
                                        </p:tgtEl>
                                      </p:cBhvr>
                                    </p:animEffect>
                                    <p:anim calcmode="lin" valueType="num">
                                      <p:cBhvr>
                                        <p:cTn id="11" dur="1822" tmFilter="0,0; 0.14,0.31; 0.43,0.73; 0.71,0.91; 1.0,1.0">
                                          <p:stCondLst>
                                            <p:cond delay="0"/>
                                          </p:stCondLst>
                                        </p:cTn>
                                        <p:tgtEl>
                                          <p:spTgt spid="3">
                                            <p:txEl>
                                              <p:pRg st="0" end="0"/>
                                            </p:txEl>
                                          </p:spTgt>
                                        </p:tgtEl>
                                        <p:attrNameLst>
                                          <p:attrName>ppt_x</p:attrName>
                                        </p:attrNameLst>
                                      </p:cBhvr>
                                      <p:tavLst>
                                        <p:tav tm="0">
                                          <p:val>
                                            <p:strVal val="ppt_x"/>
                                          </p:val>
                                        </p:tav>
                                        <p:tav tm="100000">
                                          <p:val>
                                            <p:strVal val="#ppt_x+0.25"/>
                                          </p:val>
                                        </p:tav>
                                      </p:tavLst>
                                    </p:anim>
                                    <p:anim calcmode="lin" valueType="num">
                                      <p:cBhvr>
                                        <p:cTn id="12" dur="178">
                                          <p:stCondLst>
                                            <p:cond delay="1822"/>
                                          </p:stCondLst>
                                        </p:cTn>
                                        <p:tgtEl>
                                          <p:spTgt spid="3">
                                            <p:txEl>
                                              <p:pRg st="0" end="0"/>
                                            </p:txEl>
                                          </p:spTgt>
                                        </p:tgtEl>
                                        <p:attrNameLst>
                                          <p:attrName>ppt_x</p:attrName>
                                        </p:attrNameLst>
                                      </p:cBhvr>
                                      <p:tavLst>
                                        <p:tav tm="0">
                                          <p:val>
                                            <p:strVal val="ppt_x"/>
                                          </p:val>
                                        </p:tav>
                                        <p:tav tm="100000">
                                          <p:val>
                                            <p:strVal val="ppt_x"/>
                                          </p:val>
                                        </p:tav>
                                      </p:tavLst>
                                    </p:anim>
                                    <p:anim calcmode="lin" valueType="num">
                                      <p:cBhvr>
                                        <p:cTn id="13" dur="664" tmFilter="0.0,0.0;0.25,0.07;0.50,0.2;0.75,0.467;1.0,1.0">
                                          <p:stCondLst>
                                            <p:cond delay="0"/>
                                          </p:stCondLst>
                                        </p:cTn>
                                        <p:tgtEl>
                                          <p:spTgt spid="3">
                                            <p:txEl>
                                              <p:pRg st="0" end="0"/>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4" dur="664" tmFilter="0, 0; 0.125,0.2665; 0.25,0.4; 0.375,0.465; 0.5,0.5;  0.625,0.535; 0.75,0.6; 0.875,0.7335; 1,1">
                                          <p:stCondLst>
                                            <p:cond delay="664"/>
                                          </p:stCondLst>
                                        </p:cTn>
                                        <p:tgtEl>
                                          <p:spTgt spid="3">
                                            <p:txEl>
                                              <p:pRg st="0" end="0"/>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5" dur="332" tmFilter="0, 0; 0.125,0.2665; 0.25,0.4; 0.375,0.465; 0.5,0.5;  0.625,0.535; 0.75,0.6; 0.875,0.7335; 1,1">
                                          <p:stCondLst>
                                            <p:cond delay="1324"/>
                                          </p:stCondLst>
                                        </p:cTn>
                                        <p:tgtEl>
                                          <p:spTgt spid="3">
                                            <p:txEl>
                                              <p:pRg st="0" end="0"/>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6" dur="164" tmFilter="0, 0; 0.125,0.2665; 0.25,0.4; 0.375,0.465; 0.5,0.5;  0.625,0.535; 0.75,0.6; 0.875,0.7335; 1,1">
                                          <p:stCondLst>
                                            <p:cond delay="1656"/>
                                          </p:stCondLst>
                                        </p:cTn>
                                        <p:tgtEl>
                                          <p:spTgt spid="3">
                                            <p:txEl>
                                              <p:pRg st="0" end="0"/>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7" dur="180" accel="50000">
                                          <p:stCondLst>
                                            <p:cond delay="1820"/>
                                          </p:stCondLst>
                                        </p:cTn>
                                        <p:tgtEl>
                                          <p:spTgt spid="3">
                                            <p:txEl>
                                              <p:pRg st="0" end="0"/>
                                            </p:txEl>
                                          </p:spTgt>
                                        </p:tgtEl>
                                        <p:attrNameLst>
                                          <p:attrName>ppt_y</p:attrName>
                                        </p:attrNameLst>
                                      </p:cBhvr>
                                      <p:tavLst>
                                        <p:tav tm="0">
                                          <p:val>
                                            <p:strVal val="ppt_y"/>
                                          </p:val>
                                        </p:tav>
                                        <p:tav tm="100000">
                                          <p:val>
                                            <p:strVal val="ppt_y+ppt_h"/>
                                          </p:val>
                                        </p:tav>
                                      </p:tavLst>
                                    </p:anim>
                                    <p:animScale>
                                      <p:cBhvr>
                                        <p:cTn id="18" dur="26">
                                          <p:stCondLst>
                                            <p:cond delay="620"/>
                                          </p:stCondLst>
                                        </p:cTn>
                                        <p:tgtEl>
                                          <p:spTgt spid="3">
                                            <p:txEl>
                                              <p:pRg st="0" end="0"/>
                                            </p:txEl>
                                          </p:spTgt>
                                        </p:tgtEl>
                                      </p:cBhvr>
                                      <p:to x="100000" y="60000"/>
                                    </p:animScale>
                                    <p:animScale>
                                      <p:cBhvr>
                                        <p:cTn id="19" dur="166" decel="50000">
                                          <p:stCondLst>
                                            <p:cond delay="646"/>
                                          </p:stCondLst>
                                        </p:cTn>
                                        <p:tgtEl>
                                          <p:spTgt spid="3">
                                            <p:txEl>
                                              <p:pRg st="0" end="0"/>
                                            </p:txEl>
                                          </p:spTgt>
                                        </p:tgtEl>
                                      </p:cBhvr>
                                      <p:to x="100000" y="100000"/>
                                    </p:animScale>
                                    <p:animScale>
                                      <p:cBhvr>
                                        <p:cTn id="20" dur="26">
                                          <p:stCondLst>
                                            <p:cond delay="1312"/>
                                          </p:stCondLst>
                                        </p:cTn>
                                        <p:tgtEl>
                                          <p:spTgt spid="3">
                                            <p:txEl>
                                              <p:pRg st="0" end="0"/>
                                            </p:txEl>
                                          </p:spTgt>
                                        </p:tgtEl>
                                      </p:cBhvr>
                                      <p:to x="100000" y="80000"/>
                                    </p:animScale>
                                    <p:animScale>
                                      <p:cBhvr>
                                        <p:cTn id="21" dur="166" decel="50000">
                                          <p:stCondLst>
                                            <p:cond delay="1338"/>
                                          </p:stCondLst>
                                        </p:cTn>
                                        <p:tgtEl>
                                          <p:spTgt spid="3">
                                            <p:txEl>
                                              <p:pRg st="0" end="0"/>
                                            </p:txEl>
                                          </p:spTgt>
                                        </p:tgtEl>
                                      </p:cBhvr>
                                      <p:to x="100000" y="100000"/>
                                    </p:animScale>
                                    <p:animScale>
                                      <p:cBhvr>
                                        <p:cTn id="22" dur="26">
                                          <p:stCondLst>
                                            <p:cond delay="1642"/>
                                          </p:stCondLst>
                                        </p:cTn>
                                        <p:tgtEl>
                                          <p:spTgt spid="3">
                                            <p:txEl>
                                              <p:pRg st="0" end="0"/>
                                            </p:txEl>
                                          </p:spTgt>
                                        </p:tgtEl>
                                      </p:cBhvr>
                                      <p:to x="100000" y="90000"/>
                                    </p:animScale>
                                    <p:animScale>
                                      <p:cBhvr>
                                        <p:cTn id="23" dur="166" decel="50000">
                                          <p:stCondLst>
                                            <p:cond delay="1668"/>
                                          </p:stCondLst>
                                        </p:cTn>
                                        <p:tgtEl>
                                          <p:spTgt spid="3">
                                            <p:txEl>
                                              <p:pRg st="0" end="0"/>
                                            </p:txEl>
                                          </p:spTgt>
                                        </p:tgtEl>
                                      </p:cBhvr>
                                      <p:to x="100000" y="100000"/>
                                    </p:animScale>
                                    <p:animScale>
                                      <p:cBhvr>
                                        <p:cTn id="24" dur="26">
                                          <p:stCondLst>
                                            <p:cond delay="1808"/>
                                          </p:stCondLst>
                                        </p:cTn>
                                        <p:tgtEl>
                                          <p:spTgt spid="3">
                                            <p:txEl>
                                              <p:pRg st="0" end="0"/>
                                            </p:txEl>
                                          </p:spTgt>
                                        </p:tgtEl>
                                      </p:cBhvr>
                                      <p:to x="100000" y="95000"/>
                                    </p:animScale>
                                    <p:animScale>
                                      <p:cBhvr>
                                        <p:cTn id="25" dur="166" decel="50000">
                                          <p:stCondLst>
                                            <p:cond delay="1834"/>
                                          </p:stCondLst>
                                        </p:cTn>
                                        <p:tgtEl>
                                          <p:spTgt spid="3">
                                            <p:txEl>
                                              <p:pRg st="0" end="0"/>
                                            </p:txEl>
                                          </p:spTgt>
                                        </p:tgtEl>
                                      </p:cBhvr>
                                      <p:to x="100000" y="100000"/>
                                    </p:animScale>
                                    <p:set>
                                      <p:cBhvr>
                                        <p:cTn id="26"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6" presetClass="exit" presetSubtype="0" fill="hold" grpId="0" nodeType="clickEffect">
                                  <p:stCondLst>
                                    <p:cond delay="0"/>
                                  </p:stCondLst>
                                  <p:childTnLst>
                                    <p:animEffect transition="out" filter="wipe(down)">
                                      <p:cBhvr>
                                        <p:cTn id="30" dur="180" accel="50000">
                                          <p:stCondLst>
                                            <p:cond delay="1820"/>
                                          </p:stCondLst>
                                        </p:cTn>
                                        <p:tgtEl>
                                          <p:spTgt spid="3">
                                            <p:txEl>
                                              <p:pRg st="1" end="1"/>
                                            </p:txEl>
                                          </p:spTgt>
                                        </p:tgtEl>
                                      </p:cBhvr>
                                    </p:animEffect>
                                    <p:anim calcmode="lin" valueType="num">
                                      <p:cBhvr>
                                        <p:cTn id="31" dur="1822" tmFilter="0,0; 0.14,0.31; 0.43,0.73; 0.71,0.91; 1.0,1.0">
                                          <p:stCondLst>
                                            <p:cond delay="0"/>
                                          </p:stCondLst>
                                        </p:cTn>
                                        <p:tgtEl>
                                          <p:spTgt spid="3">
                                            <p:txEl>
                                              <p:pRg st="1" end="1"/>
                                            </p:txEl>
                                          </p:spTgt>
                                        </p:tgtEl>
                                        <p:attrNameLst>
                                          <p:attrName>ppt_x</p:attrName>
                                        </p:attrNameLst>
                                      </p:cBhvr>
                                      <p:tavLst>
                                        <p:tav tm="0">
                                          <p:val>
                                            <p:strVal val="ppt_x"/>
                                          </p:val>
                                        </p:tav>
                                        <p:tav tm="100000">
                                          <p:val>
                                            <p:strVal val="#ppt_x+0.25"/>
                                          </p:val>
                                        </p:tav>
                                      </p:tavLst>
                                    </p:anim>
                                    <p:anim calcmode="lin" valueType="num">
                                      <p:cBhvr>
                                        <p:cTn id="32" dur="178">
                                          <p:stCondLst>
                                            <p:cond delay="1822"/>
                                          </p:stCondLst>
                                        </p:cTn>
                                        <p:tgtEl>
                                          <p:spTgt spid="3">
                                            <p:txEl>
                                              <p:pRg st="1" end="1"/>
                                            </p:txEl>
                                          </p:spTgt>
                                        </p:tgtEl>
                                        <p:attrNameLst>
                                          <p:attrName>ppt_x</p:attrName>
                                        </p:attrNameLst>
                                      </p:cBhvr>
                                      <p:tavLst>
                                        <p:tav tm="0">
                                          <p:val>
                                            <p:strVal val="ppt_x"/>
                                          </p:val>
                                        </p:tav>
                                        <p:tav tm="100000">
                                          <p:val>
                                            <p:strVal val="ppt_x"/>
                                          </p:val>
                                        </p:tav>
                                      </p:tavLst>
                                    </p:anim>
                                    <p:anim calcmode="lin" valueType="num">
                                      <p:cBhvr>
                                        <p:cTn id="33" dur="664" tmFilter="0.0,0.0;0.25,0.07;0.50,0.2;0.75,0.467;1.0,1.0">
                                          <p:stCondLst>
                                            <p:cond delay="0"/>
                                          </p:stCondLst>
                                        </p:cTn>
                                        <p:tgtEl>
                                          <p:spTgt spid="3">
                                            <p:txEl>
                                              <p:pRg st="1" end="1"/>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4" dur="664" tmFilter="0, 0; 0.125,0.2665; 0.25,0.4; 0.375,0.465; 0.5,0.5;  0.625,0.535; 0.75,0.6; 0.875,0.7335; 1,1">
                                          <p:stCondLst>
                                            <p:cond delay="664"/>
                                          </p:stCondLst>
                                        </p:cTn>
                                        <p:tgtEl>
                                          <p:spTgt spid="3">
                                            <p:txEl>
                                              <p:pRg st="1" end="1"/>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5" dur="332" tmFilter="0, 0; 0.125,0.2665; 0.25,0.4; 0.375,0.465; 0.5,0.5;  0.625,0.535; 0.75,0.6; 0.875,0.7335; 1,1">
                                          <p:stCondLst>
                                            <p:cond delay="1324"/>
                                          </p:stCondLst>
                                        </p:cTn>
                                        <p:tgtEl>
                                          <p:spTgt spid="3">
                                            <p:txEl>
                                              <p:pRg st="1" end="1"/>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6" dur="164" tmFilter="0, 0; 0.125,0.2665; 0.25,0.4; 0.375,0.465; 0.5,0.5;  0.625,0.535; 0.75,0.6; 0.875,0.7335; 1,1">
                                          <p:stCondLst>
                                            <p:cond delay="1656"/>
                                          </p:stCondLst>
                                        </p:cTn>
                                        <p:tgtEl>
                                          <p:spTgt spid="3">
                                            <p:txEl>
                                              <p:pRg st="1" end="1"/>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7" dur="180" accel="50000">
                                          <p:stCondLst>
                                            <p:cond delay="1820"/>
                                          </p:stCondLst>
                                        </p:cTn>
                                        <p:tgtEl>
                                          <p:spTgt spid="3">
                                            <p:txEl>
                                              <p:pRg st="1" end="1"/>
                                            </p:txEl>
                                          </p:spTgt>
                                        </p:tgtEl>
                                        <p:attrNameLst>
                                          <p:attrName>ppt_y</p:attrName>
                                        </p:attrNameLst>
                                      </p:cBhvr>
                                      <p:tavLst>
                                        <p:tav tm="0">
                                          <p:val>
                                            <p:strVal val="ppt_y"/>
                                          </p:val>
                                        </p:tav>
                                        <p:tav tm="100000">
                                          <p:val>
                                            <p:strVal val="ppt_y+ppt_h"/>
                                          </p:val>
                                        </p:tav>
                                      </p:tavLst>
                                    </p:anim>
                                    <p:animScale>
                                      <p:cBhvr>
                                        <p:cTn id="38" dur="26">
                                          <p:stCondLst>
                                            <p:cond delay="620"/>
                                          </p:stCondLst>
                                        </p:cTn>
                                        <p:tgtEl>
                                          <p:spTgt spid="3">
                                            <p:txEl>
                                              <p:pRg st="1" end="1"/>
                                            </p:txEl>
                                          </p:spTgt>
                                        </p:tgtEl>
                                      </p:cBhvr>
                                      <p:to x="100000" y="60000"/>
                                    </p:animScale>
                                    <p:animScale>
                                      <p:cBhvr>
                                        <p:cTn id="39" dur="166" decel="50000">
                                          <p:stCondLst>
                                            <p:cond delay="646"/>
                                          </p:stCondLst>
                                        </p:cTn>
                                        <p:tgtEl>
                                          <p:spTgt spid="3">
                                            <p:txEl>
                                              <p:pRg st="1" end="1"/>
                                            </p:txEl>
                                          </p:spTgt>
                                        </p:tgtEl>
                                      </p:cBhvr>
                                      <p:to x="100000" y="100000"/>
                                    </p:animScale>
                                    <p:animScale>
                                      <p:cBhvr>
                                        <p:cTn id="40" dur="26">
                                          <p:stCondLst>
                                            <p:cond delay="1312"/>
                                          </p:stCondLst>
                                        </p:cTn>
                                        <p:tgtEl>
                                          <p:spTgt spid="3">
                                            <p:txEl>
                                              <p:pRg st="1" end="1"/>
                                            </p:txEl>
                                          </p:spTgt>
                                        </p:tgtEl>
                                      </p:cBhvr>
                                      <p:to x="100000" y="80000"/>
                                    </p:animScale>
                                    <p:animScale>
                                      <p:cBhvr>
                                        <p:cTn id="41" dur="166" decel="50000">
                                          <p:stCondLst>
                                            <p:cond delay="1338"/>
                                          </p:stCondLst>
                                        </p:cTn>
                                        <p:tgtEl>
                                          <p:spTgt spid="3">
                                            <p:txEl>
                                              <p:pRg st="1" end="1"/>
                                            </p:txEl>
                                          </p:spTgt>
                                        </p:tgtEl>
                                      </p:cBhvr>
                                      <p:to x="100000" y="100000"/>
                                    </p:animScale>
                                    <p:animScale>
                                      <p:cBhvr>
                                        <p:cTn id="42" dur="26">
                                          <p:stCondLst>
                                            <p:cond delay="1642"/>
                                          </p:stCondLst>
                                        </p:cTn>
                                        <p:tgtEl>
                                          <p:spTgt spid="3">
                                            <p:txEl>
                                              <p:pRg st="1" end="1"/>
                                            </p:txEl>
                                          </p:spTgt>
                                        </p:tgtEl>
                                      </p:cBhvr>
                                      <p:to x="100000" y="90000"/>
                                    </p:animScale>
                                    <p:animScale>
                                      <p:cBhvr>
                                        <p:cTn id="43" dur="166" decel="50000">
                                          <p:stCondLst>
                                            <p:cond delay="1668"/>
                                          </p:stCondLst>
                                        </p:cTn>
                                        <p:tgtEl>
                                          <p:spTgt spid="3">
                                            <p:txEl>
                                              <p:pRg st="1" end="1"/>
                                            </p:txEl>
                                          </p:spTgt>
                                        </p:tgtEl>
                                      </p:cBhvr>
                                      <p:to x="100000" y="100000"/>
                                    </p:animScale>
                                    <p:animScale>
                                      <p:cBhvr>
                                        <p:cTn id="44" dur="26">
                                          <p:stCondLst>
                                            <p:cond delay="1808"/>
                                          </p:stCondLst>
                                        </p:cTn>
                                        <p:tgtEl>
                                          <p:spTgt spid="3">
                                            <p:txEl>
                                              <p:pRg st="1" end="1"/>
                                            </p:txEl>
                                          </p:spTgt>
                                        </p:tgtEl>
                                      </p:cBhvr>
                                      <p:to x="100000" y="95000"/>
                                    </p:animScale>
                                    <p:animScale>
                                      <p:cBhvr>
                                        <p:cTn id="45" dur="166" decel="50000">
                                          <p:stCondLst>
                                            <p:cond delay="1834"/>
                                          </p:stCondLst>
                                        </p:cTn>
                                        <p:tgtEl>
                                          <p:spTgt spid="3">
                                            <p:txEl>
                                              <p:pRg st="1" end="1"/>
                                            </p:txEl>
                                          </p:spTgt>
                                        </p:tgtEl>
                                      </p:cBhvr>
                                      <p:to x="100000" y="100000"/>
                                    </p:animScale>
                                    <p:set>
                                      <p:cBhvr>
                                        <p:cTn id="46" dur="1" fill="hold">
                                          <p:stCondLst>
                                            <p:cond delay="1999"/>
                                          </p:stCondLst>
                                        </p:cTn>
                                        <p:tgtEl>
                                          <p:spTgt spid="3">
                                            <p:txEl>
                                              <p:pRg st="1" end="1"/>
                                            </p:txEl>
                                          </p:spTgt>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6" presetClass="exit" presetSubtype="0" fill="hold" grpId="0" nodeType="clickEffect">
                                  <p:stCondLst>
                                    <p:cond delay="0"/>
                                  </p:stCondLst>
                                  <p:childTnLst>
                                    <p:animEffect transition="out" filter="wipe(down)">
                                      <p:cBhvr>
                                        <p:cTn id="50" dur="180" accel="50000">
                                          <p:stCondLst>
                                            <p:cond delay="1820"/>
                                          </p:stCondLst>
                                        </p:cTn>
                                        <p:tgtEl>
                                          <p:spTgt spid="3">
                                            <p:txEl>
                                              <p:pRg st="2" end="2"/>
                                            </p:txEl>
                                          </p:spTgt>
                                        </p:tgtEl>
                                      </p:cBhvr>
                                    </p:animEffect>
                                    <p:anim calcmode="lin" valueType="num">
                                      <p:cBhvr>
                                        <p:cTn id="51" dur="1822" tmFilter="0,0; 0.14,0.31; 0.43,0.73; 0.71,0.91; 1.0,1.0">
                                          <p:stCondLst>
                                            <p:cond delay="0"/>
                                          </p:stCondLst>
                                        </p:cTn>
                                        <p:tgtEl>
                                          <p:spTgt spid="3">
                                            <p:txEl>
                                              <p:pRg st="2" end="2"/>
                                            </p:txEl>
                                          </p:spTgt>
                                        </p:tgtEl>
                                        <p:attrNameLst>
                                          <p:attrName>ppt_x</p:attrName>
                                        </p:attrNameLst>
                                      </p:cBhvr>
                                      <p:tavLst>
                                        <p:tav tm="0">
                                          <p:val>
                                            <p:strVal val="ppt_x"/>
                                          </p:val>
                                        </p:tav>
                                        <p:tav tm="100000">
                                          <p:val>
                                            <p:strVal val="#ppt_x+0.25"/>
                                          </p:val>
                                        </p:tav>
                                      </p:tavLst>
                                    </p:anim>
                                    <p:anim calcmode="lin" valueType="num">
                                      <p:cBhvr>
                                        <p:cTn id="52" dur="178">
                                          <p:stCondLst>
                                            <p:cond delay="1822"/>
                                          </p:stCondLst>
                                        </p:cTn>
                                        <p:tgtEl>
                                          <p:spTgt spid="3">
                                            <p:txEl>
                                              <p:pRg st="2" end="2"/>
                                            </p:txEl>
                                          </p:spTgt>
                                        </p:tgtEl>
                                        <p:attrNameLst>
                                          <p:attrName>ppt_x</p:attrName>
                                        </p:attrNameLst>
                                      </p:cBhvr>
                                      <p:tavLst>
                                        <p:tav tm="0">
                                          <p:val>
                                            <p:strVal val="ppt_x"/>
                                          </p:val>
                                        </p:tav>
                                        <p:tav tm="100000">
                                          <p:val>
                                            <p:strVal val="ppt_x"/>
                                          </p:val>
                                        </p:tav>
                                      </p:tavLst>
                                    </p:anim>
                                    <p:anim calcmode="lin" valueType="num">
                                      <p:cBhvr>
                                        <p:cTn id="53" dur="664" tmFilter="0.0,0.0;0.25,0.07;0.50,0.2;0.75,0.467;1.0,1.0">
                                          <p:stCondLst>
                                            <p:cond delay="0"/>
                                          </p:stCondLst>
                                        </p:cTn>
                                        <p:tgtEl>
                                          <p:spTgt spid="3">
                                            <p:txEl>
                                              <p:pRg st="2" end="2"/>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4" dur="664" tmFilter="0, 0; 0.125,0.2665; 0.25,0.4; 0.375,0.465; 0.5,0.5;  0.625,0.535; 0.75,0.6; 0.875,0.7335; 1,1">
                                          <p:stCondLst>
                                            <p:cond delay="664"/>
                                          </p:stCondLst>
                                        </p:cTn>
                                        <p:tgtEl>
                                          <p:spTgt spid="3">
                                            <p:txEl>
                                              <p:pRg st="2" end="2"/>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5" dur="332" tmFilter="0, 0; 0.125,0.2665; 0.25,0.4; 0.375,0.465; 0.5,0.5;  0.625,0.535; 0.75,0.6; 0.875,0.7335; 1,1">
                                          <p:stCondLst>
                                            <p:cond delay="1324"/>
                                          </p:stCondLst>
                                        </p:cTn>
                                        <p:tgtEl>
                                          <p:spTgt spid="3">
                                            <p:txEl>
                                              <p:pRg st="2" end="2"/>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6" dur="164" tmFilter="0, 0; 0.125,0.2665; 0.25,0.4; 0.375,0.465; 0.5,0.5;  0.625,0.535; 0.75,0.6; 0.875,0.7335; 1,1">
                                          <p:stCondLst>
                                            <p:cond delay="1656"/>
                                          </p:stCondLst>
                                        </p:cTn>
                                        <p:tgtEl>
                                          <p:spTgt spid="3">
                                            <p:txEl>
                                              <p:pRg st="2" end="2"/>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7" dur="180" accel="50000">
                                          <p:stCondLst>
                                            <p:cond delay="1820"/>
                                          </p:stCondLst>
                                        </p:cTn>
                                        <p:tgtEl>
                                          <p:spTgt spid="3">
                                            <p:txEl>
                                              <p:pRg st="2" end="2"/>
                                            </p:txEl>
                                          </p:spTgt>
                                        </p:tgtEl>
                                        <p:attrNameLst>
                                          <p:attrName>ppt_y</p:attrName>
                                        </p:attrNameLst>
                                      </p:cBhvr>
                                      <p:tavLst>
                                        <p:tav tm="0">
                                          <p:val>
                                            <p:strVal val="ppt_y"/>
                                          </p:val>
                                        </p:tav>
                                        <p:tav tm="100000">
                                          <p:val>
                                            <p:strVal val="ppt_y+ppt_h"/>
                                          </p:val>
                                        </p:tav>
                                      </p:tavLst>
                                    </p:anim>
                                    <p:animScale>
                                      <p:cBhvr>
                                        <p:cTn id="58" dur="26">
                                          <p:stCondLst>
                                            <p:cond delay="620"/>
                                          </p:stCondLst>
                                        </p:cTn>
                                        <p:tgtEl>
                                          <p:spTgt spid="3">
                                            <p:txEl>
                                              <p:pRg st="2" end="2"/>
                                            </p:txEl>
                                          </p:spTgt>
                                        </p:tgtEl>
                                      </p:cBhvr>
                                      <p:to x="100000" y="60000"/>
                                    </p:animScale>
                                    <p:animScale>
                                      <p:cBhvr>
                                        <p:cTn id="59" dur="166" decel="50000">
                                          <p:stCondLst>
                                            <p:cond delay="646"/>
                                          </p:stCondLst>
                                        </p:cTn>
                                        <p:tgtEl>
                                          <p:spTgt spid="3">
                                            <p:txEl>
                                              <p:pRg st="2" end="2"/>
                                            </p:txEl>
                                          </p:spTgt>
                                        </p:tgtEl>
                                      </p:cBhvr>
                                      <p:to x="100000" y="100000"/>
                                    </p:animScale>
                                    <p:animScale>
                                      <p:cBhvr>
                                        <p:cTn id="60" dur="26">
                                          <p:stCondLst>
                                            <p:cond delay="1312"/>
                                          </p:stCondLst>
                                        </p:cTn>
                                        <p:tgtEl>
                                          <p:spTgt spid="3">
                                            <p:txEl>
                                              <p:pRg st="2" end="2"/>
                                            </p:txEl>
                                          </p:spTgt>
                                        </p:tgtEl>
                                      </p:cBhvr>
                                      <p:to x="100000" y="80000"/>
                                    </p:animScale>
                                    <p:animScale>
                                      <p:cBhvr>
                                        <p:cTn id="61" dur="166" decel="50000">
                                          <p:stCondLst>
                                            <p:cond delay="1338"/>
                                          </p:stCondLst>
                                        </p:cTn>
                                        <p:tgtEl>
                                          <p:spTgt spid="3">
                                            <p:txEl>
                                              <p:pRg st="2" end="2"/>
                                            </p:txEl>
                                          </p:spTgt>
                                        </p:tgtEl>
                                      </p:cBhvr>
                                      <p:to x="100000" y="100000"/>
                                    </p:animScale>
                                    <p:animScale>
                                      <p:cBhvr>
                                        <p:cTn id="62" dur="26">
                                          <p:stCondLst>
                                            <p:cond delay="1642"/>
                                          </p:stCondLst>
                                        </p:cTn>
                                        <p:tgtEl>
                                          <p:spTgt spid="3">
                                            <p:txEl>
                                              <p:pRg st="2" end="2"/>
                                            </p:txEl>
                                          </p:spTgt>
                                        </p:tgtEl>
                                      </p:cBhvr>
                                      <p:to x="100000" y="90000"/>
                                    </p:animScale>
                                    <p:animScale>
                                      <p:cBhvr>
                                        <p:cTn id="63" dur="166" decel="50000">
                                          <p:stCondLst>
                                            <p:cond delay="1668"/>
                                          </p:stCondLst>
                                        </p:cTn>
                                        <p:tgtEl>
                                          <p:spTgt spid="3">
                                            <p:txEl>
                                              <p:pRg st="2" end="2"/>
                                            </p:txEl>
                                          </p:spTgt>
                                        </p:tgtEl>
                                      </p:cBhvr>
                                      <p:to x="100000" y="100000"/>
                                    </p:animScale>
                                    <p:animScale>
                                      <p:cBhvr>
                                        <p:cTn id="64" dur="26">
                                          <p:stCondLst>
                                            <p:cond delay="1808"/>
                                          </p:stCondLst>
                                        </p:cTn>
                                        <p:tgtEl>
                                          <p:spTgt spid="3">
                                            <p:txEl>
                                              <p:pRg st="2" end="2"/>
                                            </p:txEl>
                                          </p:spTgt>
                                        </p:tgtEl>
                                      </p:cBhvr>
                                      <p:to x="100000" y="95000"/>
                                    </p:animScale>
                                    <p:animScale>
                                      <p:cBhvr>
                                        <p:cTn id="65" dur="166" decel="50000">
                                          <p:stCondLst>
                                            <p:cond delay="1834"/>
                                          </p:stCondLst>
                                        </p:cTn>
                                        <p:tgtEl>
                                          <p:spTgt spid="3">
                                            <p:txEl>
                                              <p:pRg st="2" end="2"/>
                                            </p:txEl>
                                          </p:spTgt>
                                        </p:tgtEl>
                                      </p:cBhvr>
                                      <p:to x="100000" y="100000"/>
                                    </p:animScale>
                                    <p:set>
                                      <p:cBhvr>
                                        <p:cTn id="66" dur="1" fill="hold">
                                          <p:stCondLst>
                                            <p:cond delay="1999"/>
                                          </p:stCondLst>
                                        </p:cTn>
                                        <p:tgtEl>
                                          <p:spTgt spid="3">
                                            <p:txEl>
                                              <p:pRg st="2" end="2"/>
                                            </p:txEl>
                                          </p:spTgt>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6" presetClass="exit" presetSubtype="0" fill="hold" grpId="0" nodeType="clickEffect">
                                  <p:stCondLst>
                                    <p:cond delay="0"/>
                                  </p:stCondLst>
                                  <p:childTnLst>
                                    <p:animEffect transition="out" filter="wipe(down)">
                                      <p:cBhvr>
                                        <p:cTn id="70" dur="180" accel="50000">
                                          <p:stCondLst>
                                            <p:cond delay="1820"/>
                                          </p:stCondLst>
                                        </p:cTn>
                                        <p:tgtEl>
                                          <p:spTgt spid="3">
                                            <p:txEl>
                                              <p:pRg st="3" end="3"/>
                                            </p:txEl>
                                          </p:spTgt>
                                        </p:tgtEl>
                                      </p:cBhvr>
                                    </p:animEffect>
                                    <p:anim calcmode="lin" valueType="num">
                                      <p:cBhvr>
                                        <p:cTn id="71" dur="1822" tmFilter="0,0; 0.14,0.31; 0.43,0.73; 0.71,0.91; 1.0,1.0">
                                          <p:stCondLst>
                                            <p:cond delay="0"/>
                                          </p:stCondLst>
                                        </p:cTn>
                                        <p:tgtEl>
                                          <p:spTgt spid="3">
                                            <p:txEl>
                                              <p:pRg st="3" end="3"/>
                                            </p:txEl>
                                          </p:spTgt>
                                        </p:tgtEl>
                                        <p:attrNameLst>
                                          <p:attrName>ppt_x</p:attrName>
                                        </p:attrNameLst>
                                      </p:cBhvr>
                                      <p:tavLst>
                                        <p:tav tm="0">
                                          <p:val>
                                            <p:strVal val="ppt_x"/>
                                          </p:val>
                                        </p:tav>
                                        <p:tav tm="100000">
                                          <p:val>
                                            <p:strVal val="#ppt_x+0.25"/>
                                          </p:val>
                                        </p:tav>
                                      </p:tavLst>
                                    </p:anim>
                                    <p:anim calcmode="lin" valueType="num">
                                      <p:cBhvr>
                                        <p:cTn id="72" dur="178">
                                          <p:stCondLst>
                                            <p:cond delay="1822"/>
                                          </p:stCondLst>
                                        </p:cTn>
                                        <p:tgtEl>
                                          <p:spTgt spid="3">
                                            <p:txEl>
                                              <p:pRg st="3" end="3"/>
                                            </p:txEl>
                                          </p:spTgt>
                                        </p:tgtEl>
                                        <p:attrNameLst>
                                          <p:attrName>ppt_x</p:attrName>
                                        </p:attrNameLst>
                                      </p:cBhvr>
                                      <p:tavLst>
                                        <p:tav tm="0">
                                          <p:val>
                                            <p:strVal val="ppt_x"/>
                                          </p:val>
                                        </p:tav>
                                        <p:tav tm="100000">
                                          <p:val>
                                            <p:strVal val="ppt_x"/>
                                          </p:val>
                                        </p:tav>
                                      </p:tavLst>
                                    </p:anim>
                                    <p:anim calcmode="lin" valueType="num">
                                      <p:cBhvr>
                                        <p:cTn id="73" dur="664" tmFilter="0.0,0.0;0.25,0.07;0.50,0.2;0.75,0.467;1.0,1.0">
                                          <p:stCondLst>
                                            <p:cond delay="0"/>
                                          </p:stCondLst>
                                        </p:cTn>
                                        <p:tgtEl>
                                          <p:spTgt spid="3">
                                            <p:txEl>
                                              <p:pRg st="3" end="3"/>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74" dur="664" tmFilter="0, 0; 0.125,0.2665; 0.25,0.4; 0.375,0.465; 0.5,0.5;  0.625,0.535; 0.75,0.6; 0.875,0.7335; 1,1">
                                          <p:stCondLst>
                                            <p:cond delay="664"/>
                                          </p:stCondLst>
                                        </p:cTn>
                                        <p:tgtEl>
                                          <p:spTgt spid="3">
                                            <p:txEl>
                                              <p:pRg st="3" end="3"/>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75" dur="332" tmFilter="0, 0; 0.125,0.2665; 0.25,0.4; 0.375,0.465; 0.5,0.5;  0.625,0.535; 0.75,0.6; 0.875,0.7335; 1,1">
                                          <p:stCondLst>
                                            <p:cond delay="1324"/>
                                          </p:stCondLst>
                                        </p:cTn>
                                        <p:tgtEl>
                                          <p:spTgt spid="3">
                                            <p:txEl>
                                              <p:pRg st="3" end="3"/>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76" dur="164" tmFilter="0, 0; 0.125,0.2665; 0.25,0.4; 0.375,0.465; 0.5,0.5;  0.625,0.535; 0.75,0.6; 0.875,0.7335; 1,1">
                                          <p:stCondLst>
                                            <p:cond delay="1656"/>
                                          </p:stCondLst>
                                        </p:cTn>
                                        <p:tgtEl>
                                          <p:spTgt spid="3">
                                            <p:txEl>
                                              <p:pRg st="3" end="3"/>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77" dur="180" accel="50000">
                                          <p:stCondLst>
                                            <p:cond delay="1820"/>
                                          </p:stCondLst>
                                        </p:cTn>
                                        <p:tgtEl>
                                          <p:spTgt spid="3">
                                            <p:txEl>
                                              <p:pRg st="3" end="3"/>
                                            </p:txEl>
                                          </p:spTgt>
                                        </p:tgtEl>
                                        <p:attrNameLst>
                                          <p:attrName>ppt_y</p:attrName>
                                        </p:attrNameLst>
                                      </p:cBhvr>
                                      <p:tavLst>
                                        <p:tav tm="0">
                                          <p:val>
                                            <p:strVal val="ppt_y"/>
                                          </p:val>
                                        </p:tav>
                                        <p:tav tm="100000">
                                          <p:val>
                                            <p:strVal val="ppt_y+ppt_h"/>
                                          </p:val>
                                        </p:tav>
                                      </p:tavLst>
                                    </p:anim>
                                    <p:animScale>
                                      <p:cBhvr>
                                        <p:cTn id="78" dur="26">
                                          <p:stCondLst>
                                            <p:cond delay="620"/>
                                          </p:stCondLst>
                                        </p:cTn>
                                        <p:tgtEl>
                                          <p:spTgt spid="3">
                                            <p:txEl>
                                              <p:pRg st="3" end="3"/>
                                            </p:txEl>
                                          </p:spTgt>
                                        </p:tgtEl>
                                      </p:cBhvr>
                                      <p:to x="100000" y="60000"/>
                                    </p:animScale>
                                    <p:animScale>
                                      <p:cBhvr>
                                        <p:cTn id="79" dur="166" decel="50000">
                                          <p:stCondLst>
                                            <p:cond delay="646"/>
                                          </p:stCondLst>
                                        </p:cTn>
                                        <p:tgtEl>
                                          <p:spTgt spid="3">
                                            <p:txEl>
                                              <p:pRg st="3" end="3"/>
                                            </p:txEl>
                                          </p:spTgt>
                                        </p:tgtEl>
                                      </p:cBhvr>
                                      <p:to x="100000" y="100000"/>
                                    </p:animScale>
                                    <p:animScale>
                                      <p:cBhvr>
                                        <p:cTn id="80" dur="26">
                                          <p:stCondLst>
                                            <p:cond delay="1312"/>
                                          </p:stCondLst>
                                        </p:cTn>
                                        <p:tgtEl>
                                          <p:spTgt spid="3">
                                            <p:txEl>
                                              <p:pRg st="3" end="3"/>
                                            </p:txEl>
                                          </p:spTgt>
                                        </p:tgtEl>
                                      </p:cBhvr>
                                      <p:to x="100000" y="80000"/>
                                    </p:animScale>
                                    <p:animScale>
                                      <p:cBhvr>
                                        <p:cTn id="81" dur="166" decel="50000">
                                          <p:stCondLst>
                                            <p:cond delay="1338"/>
                                          </p:stCondLst>
                                        </p:cTn>
                                        <p:tgtEl>
                                          <p:spTgt spid="3">
                                            <p:txEl>
                                              <p:pRg st="3" end="3"/>
                                            </p:txEl>
                                          </p:spTgt>
                                        </p:tgtEl>
                                      </p:cBhvr>
                                      <p:to x="100000" y="100000"/>
                                    </p:animScale>
                                    <p:animScale>
                                      <p:cBhvr>
                                        <p:cTn id="82" dur="26">
                                          <p:stCondLst>
                                            <p:cond delay="1642"/>
                                          </p:stCondLst>
                                        </p:cTn>
                                        <p:tgtEl>
                                          <p:spTgt spid="3">
                                            <p:txEl>
                                              <p:pRg st="3" end="3"/>
                                            </p:txEl>
                                          </p:spTgt>
                                        </p:tgtEl>
                                      </p:cBhvr>
                                      <p:to x="100000" y="90000"/>
                                    </p:animScale>
                                    <p:animScale>
                                      <p:cBhvr>
                                        <p:cTn id="83" dur="166" decel="50000">
                                          <p:stCondLst>
                                            <p:cond delay="1668"/>
                                          </p:stCondLst>
                                        </p:cTn>
                                        <p:tgtEl>
                                          <p:spTgt spid="3">
                                            <p:txEl>
                                              <p:pRg st="3" end="3"/>
                                            </p:txEl>
                                          </p:spTgt>
                                        </p:tgtEl>
                                      </p:cBhvr>
                                      <p:to x="100000" y="100000"/>
                                    </p:animScale>
                                    <p:animScale>
                                      <p:cBhvr>
                                        <p:cTn id="84" dur="26">
                                          <p:stCondLst>
                                            <p:cond delay="1808"/>
                                          </p:stCondLst>
                                        </p:cTn>
                                        <p:tgtEl>
                                          <p:spTgt spid="3">
                                            <p:txEl>
                                              <p:pRg st="3" end="3"/>
                                            </p:txEl>
                                          </p:spTgt>
                                        </p:tgtEl>
                                      </p:cBhvr>
                                      <p:to x="100000" y="95000"/>
                                    </p:animScale>
                                    <p:animScale>
                                      <p:cBhvr>
                                        <p:cTn id="85" dur="166" decel="50000">
                                          <p:stCondLst>
                                            <p:cond delay="1834"/>
                                          </p:stCondLst>
                                        </p:cTn>
                                        <p:tgtEl>
                                          <p:spTgt spid="3">
                                            <p:txEl>
                                              <p:pRg st="3" end="3"/>
                                            </p:txEl>
                                          </p:spTgt>
                                        </p:tgtEl>
                                      </p:cBhvr>
                                      <p:to x="100000" y="100000"/>
                                    </p:animScale>
                                    <p:set>
                                      <p:cBhvr>
                                        <p:cTn id="86" dur="1" fill="hold">
                                          <p:stCondLst>
                                            <p:cond delay="1999"/>
                                          </p:stCondLst>
                                        </p:cTn>
                                        <p:tgtEl>
                                          <p:spTgt spid="3">
                                            <p:txEl>
                                              <p:pRg st="3" end="3"/>
                                            </p:txEl>
                                          </p:spTgt>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6" presetClass="exit" presetSubtype="0" fill="hold" grpId="0" nodeType="clickEffect">
                                  <p:stCondLst>
                                    <p:cond delay="0"/>
                                  </p:stCondLst>
                                  <p:childTnLst>
                                    <p:animEffect transition="out" filter="wipe(down)">
                                      <p:cBhvr>
                                        <p:cTn id="90" dur="180" accel="50000">
                                          <p:stCondLst>
                                            <p:cond delay="1820"/>
                                          </p:stCondLst>
                                        </p:cTn>
                                        <p:tgtEl>
                                          <p:spTgt spid="3">
                                            <p:txEl>
                                              <p:pRg st="4" end="4"/>
                                            </p:txEl>
                                          </p:spTgt>
                                        </p:tgtEl>
                                      </p:cBhvr>
                                    </p:animEffect>
                                    <p:anim calcmode="lin" valueType="num">
                                      <p:cBhvr>
                                        <p:cTn id="91" dur="1822" tmFilter="0,0; 0.14,0.31; 0.43,0.73; 0.71,0.91; 1.0,1.0">
                                          <p:stCondLst>
                                            <p:cond delay="0"/>
                                          </p:stCondLst>
                                        </p:cTn>
                                        <p:tgtEl>
                                          <p:spTgt spid="3">
                                            <p:txEl>
                                              <p:pRg st="4" end="4"/>
                                            </p:txEl>
                                          </p:spTgt>
                                        </p:tgtEl>
                                        <p:attrNameLst>
                                          <p:attrName>ppt_x</p:attrName>
                                        </p:attrNameLst>
                                      </p:cBhvr>
                                      <p:tavLst>
                                        <p:tav tm="0">
                                          <p:val>
                                            <p:strVal val="ppt_x"/>
                                          </p:val>
                                        </p:tav>
                                        <p:tav tm="100000">
                                          <p:val>
                                            <p:strVal val="#ppt_x+0.25"/>
                                          </p:val>
                                        </p:tav>
                                      </p:tavLst>
                                    </p:anim>
                                    <p:anim calcmode="lin" valueType="num">
                                      <p:cBhvr>
                                        <p:cTn id="92" dur="178">
                                          <p:stCondLst>
                                            <p:cond delay="1822"/>
                                          </p:stCondLst>
                                        </p:cTn>
                                        <p:tgtEl>
                                          <p:spTgt spid="3">
                                            <p:txEl>
                                              <p:pRg st="4" end="4"/>
                                            </p:txEl>
                                          </p:spTgt>
                                        </p:tgtEl>
                                        <p:attrNameLst>
                                          <p:attrName>ppt_x</p:attrName>
                                        </p:attrNameLst>
                                      </p:cBhvr>
                                      <p:tavLst>
                                        <p:tav tm="0">
                                          <p:val>
                                            <p:strVal val="ppt_x"/>
                                          </p:val>
                                        </p:tav>
                                        <p:tav tm="100000">
                                          <p:val>
                                            <p:strVal val="ppt_x"/>
                                          </p:val>
                                        </p:tav>
                                      </p:tavLst>
                                    </p:anim>
                                    <p:anim calcmode="lin" valueType="num">
                                      <p:cBhvr>
                                        <p:cTn id="93" dur="664" tmFilter="0.0,0.0;0.25,0.07;0.50,0.2;0.75,0.467;1.0,1.0">
                                          <p:stCondLst>
                                            <p:cond delay="0"/>
                                          </p:stCondLst>
                                        </p:cTn>
                                        <p:tgtEl>
                                          <p:spTgt spid="3">
                                            <p:txEl>
                                              <p:pRg st="4" end="4"/>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94" dur="664" tmFilter="0, 0; 0.125,0.2665; 0.25,0.4; 0.375,0.465; 0.5,0.5;  0.625,0.535; 0.75,0.6; 0.875,0.7335; 1,1">
                                          <p:stCondLst>
                                            <p:cond delay="664"/>
                                          </p:stCondLst>
                                        </p:cTn>
                                        <p:tgtEl>
                                          <p:spTgt spid="3">
                                            <p:txEl>
                                              <p:pRg st="4" end="4"/>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95" dur="332" tmFilter="0, 0; 0.125,0.2665; 0.25,0.4; 0.375,0.465; 0.5,0.5;  0.625,0.535; 0.75,0.6; 0.875,0.7335; 1,1">
                                          <p:stCondLst>
                                            <p:cond delay="1324"/>
                                          </p:stCondLst>
                                        </p:cTn>
                                        <p:tgtEl>
                                          <p:spTgt spid="3">
                                            <p:txEl>
                                              <p:pRg st="4" end="4"/>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96" dur="164" tmFilter="0, 0; 0.125,0.2665; 0.25,0.4; 0.375,0.465; 0.5,0.5;  0.625,0.535; 0.75,0.6; 0.875,0.7335; 1,1">
                                          <p:stCondLst>
                                            <p:cond delay="1656"/>
                                          </p:stCondLst>
                                        </p:cTn>
                                        <p:tgtEl>
                                          <p:spTgt spid="3">
                                            <p:txEl>
                                              <p:pRg st="4" end="4"/>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97" dur="180" accel="50000">
                                          <p:stCondLst>
                                            <p:cond delay="1820"/>
                                          </p:stCondLst>
                                        </p:cTn>
                                        <p:tgtEl>
                                          <p:spTgt spid="3">
                                            <p:txEl>
                                              <p:pRg st="4" end="4"/>
                                            </p:txEl>
                                          </p:spTgt>
                                        </p:tgtEl>
                                        <p:attrNameLst>
                                          <p:attrName>ppt_y</p:attrName>
                                        </p:attrNameLst>
                                      </p:cBhvr>
                                      <p:tavLst>
                                        <p:tav tm="0">
                                          <p:val>
                                            <p:strVal val="ppt_y"/>
                                          </p:val>
                                        </p:tav>
                                        <p:tav tm="100000">
                                          <p:val>
                                            <p:strVal val="ppt_y+ppt_h"/>
                                          </p:val>
                                        </p:tav>
                                      </p:tavLst>
                                    </p:anim>
                                    <p:animScale>
                                      <p:cBhvr>
                                        <p:cTn id="98" dur="26">
                                          <p:stCondLst>
                                            <p:cond delay="620"/>
                                          </p:stCondLst>
                                        </p:cTn>
                                        <p:tgtEl>
                                          <p:spTgt spid="3">
                                            <p:txEl>
                                              <p:pRg st="4" end="4"/>
                                            </p:txEl>
                                          </p:spTgt>
                                        </p:tgtEl>
                                      </p:cBhvr>
                                      <p:to x="100000" y="60000"/>
                                    </p:animScale>
                                    <p:animScale>
                                      <p:cBhvr>
                                        <p:cTn id="99" dur="166" decel="50000">
                                          <p:stCondLst>
                                            <p:cond delay="646"/>
                                          </p:stCondLst>
                                        </p:cTn>
                                        <p:tgtEl>
                                          <p:spTgt spid="3">
                                            <p:txEl>
                                              <p:pRg st="4" end="4"/>
                                            </p:txEl>
                                          </p:spTgt>
                                        </p:tgtEl>
                                      </p:cBhvr>
                                      <p:to x="100000" y="100000"/>
                                    </p:animScale>
                                    <p:animScale>
                                      <p:cBhvr>
                                        <p:cTn id="100" dur="26">
                                          <p:stCondLst>
                                            <p:cond delay="1312"/>
                                          </p:stCondLst>
                                        </p:cTn>
                                        <p:tgtEl>
                                          <p:spTgt spid="3">
                                            <p:txEl>
                                              <p:pRg st="4" end="4"/>
                                            </p:txEl>
                                          </p:spTgt>
                                        </p:tgtEl>
                                      </p:cBhvr>
                                      <p:to x="100000" y="80000"/>
                                    </p:animScale>
                                    <p:animScale>
                                      <p:cBhvr>
                                        <p:cTn id="101" dur="166" decel="50000">
                                          <p:stCondLst>
                                            <p:cond delay="1338"/>
                                          </p:stCondLst>
                                        </p:cTn>
                                        <p:tgtEl>
                                          <p:spTgt spid="3">
                                            <p:txEl>
                                              <p:pRg st="4" end="4"/>
                                            </p:txEl>
                                          </p:spTgt>
                                        </p:tgtEl>
                                      </p:cBhvr>
                                      <p:to x="100000" y="100000"/>
                                    </p:animScale>
                                    <p:animScale>
                                      <p:cBhvr>
                                        <p:cTn id="102" dur="26">
                                          <p:stCondLst>
                                            <p:cond delay="1642"/>
                                          </p:stCondLst>
                                        </p:cTn>
                                        <p:tgtEl>
                                          <p:spTgt spid="3">
                                            <p:txEl>
                                              <p:pRg st="4" end="4"/>
                                            </p:txEl>
                                          </p:spTgt>
                                        </p:tgtEl>
                                      </p:cBhvr>
                                      <p:to x="100000" y="90000"/>
                                    </p:animScale>
                                    <p:animScale>
                                      <p:cBhvr>
                                        <p:cTn id="103" dur="166" decel="50000">
                                          <p:stCondLst>
                                            <p:cond delay="1668"/>
                                          </p:stCondLst>
                                        </p:cTn>
                                        <p:tgtEl>
                                          <p:spTgt spid="3">
                                            <p:txEl>
                                              <p:pRg st="4" end="4"/>
                                            </p:txEl>
                                          </p:spTgt>
                                        </p:tgtEl>
                                      </p:cBhvr>
                                      <p:to x="100000" y="100000"/>
                                    </p:animScale>
                                    <p:animScale>
                                      <p:cBhvr>
                                        <p:cTn id="104" dur="26">
                                          <p:stCondLst>
                                            <p:cond delay="1808"/>
                                          </p:stCondLst>
                                        </p:cTn>
                                        <p:tgtEl>
                                          <p:spTgt spid="3">
                                            <p:txEl>
                                              <p:pRg st="4" end="4"/>
                                            </p:txEl>
                                          </p:spTgt>
                                        </p:tgtEl>
                                      </p:cBhvr>
                                      <p:to x="100000" y="95000"/>
                                    </p:animScale>
                                    <p:animScale>
                                      <p:cBhvr>
                                        <p:cTn id="105" dur="166" decel="50000">
                                          <p:stCondLst>
                                            <p:cond delay="1834"/>
                                          </p:stCondLst>
                                        </p:cTn>
                                        <p:tgtEl>
                                          <p:spTgt spid="3">
                                            <p:txEl>
                                              <p:pRg st="4" end="4"/>
                                            </p:txEl>
                                          </p:spTgt>
                                        </p:tgtEl>
                                      </p:cBhvr>
                                      <p:to x="100000" y="100000"/>
                                    </p:animScale>
                                    <p:set>
                                      <p:cBhvr>
                                        <p:cTn id="106" dur="1" fill="hold">
                                          <p:stCondLst>
                                            <p:cond delay="1999"/>
                                          </p:stCondLst>
                                        </p:cTn>
                                        <p:tgtEl>
                                          <p:spTgt spid="3">
                                            <p:txEl>
                                              <p:pRg st="4" end="4"/>
                                            </p:txEl>
                                          </p:spTgt>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6" presetClass="exit" presetSubtype="0" fill="hold" grpId="0" nodeType="clickEffect">
                                  <p:stCondLst>
                                    <p:cond delay="0"/>
                                  </p:stCondLst>
                                  <p:childTnLst>
                                    <p:animEffect transition="out" filter="wipe(down)">
                                      <p:cBhvr>
                                        <p:cTn id="110" dur="180" accel="50000">
                                          <p:stCondLst>
                                            <p:cond delay="1820"/>
                                          </p:stCondLst>
                                        </p:cTn>
                                        <p:tgtEl>
                                          <p:spTgt spid="3">
                                            <p:txEl>
                                              <p:pRg st="5" end="5"/>
                                            </p:txEl>
                                          </p:spTgt>
                                        </p:tgtEl>
                                      </p:cBhvr>
                                    </p:animEffect>
                                    <p:anim calcmode="lin" valueType="num">
                                      <p:cBhvr>
                                        <p:cTn id="111" dur="1822" tmFilter="0,0; 0.14,0.31; 0.43,0.73; 0.71,0.91; 1.0,1.0">
                                          <p:stCondLst>
                                            <p:cond delay="0"/>
                                          </p:stCondLst>
                                        </p:cTn>
                                        <p:tgtEl>
                                          <p:spTgt spid="3">
                                            <p:txEl>
                                              <p:pRg st="5" end="5"/>
                                            </p:txEl>
                                          </p:spTgt>
                                        </p:tgtEl>
                                        <p:attrNameLst>
                                          <p:attrName>ppt_x</p:attrName>
                                        </p:attrNameLst>
                                      </p:cBhvr>
                                      <p:tavLst>
                                        <p:tav tm="0">
                                          <p:val>
                                            <p:strVal val="ppt_x"/>
                                          </p:val>
                                        </p:tav>
                                        <p:tav tm="100000">
                                          <p:val>
                                            <p:strVal val="#ppt_x+0.25"/>
                                          </p:val>
                                        </p:tav>
                                      </p:tavLst>
                                    </p:anim>
                                    <p:anim calcmode="lin" valueType="num">
                                      <p:cBhvr>
                                        <p:cTn id="112" dur="178">
                                          <p:stCondLst>
                                            <p:cond delay="1822"/>
                                          </p:stCondLst>
                                        </p:cTn>
                                        <p:tgtEl>
                                          <p:spTgt spid="3">
                                            <p:txEl>
                                              <p:pRg st="5" end="5"/>
                                            </p:txEl>
                                          </p:spTgt>
                                        </p:tgtEl>
                                        <p:attrNameLst>
                                          <p:attrName>ppt_x</p:attrName>
                                        </p:attrNameLst>
                                      </p:cBhvr>
                                      <p:tavLst>
                                        <p:tav tm="0">
                                          <p:val>
                                            <p:strVal val="ppt_x"/>
                                          </p:val>
                                        </p:tav>
                                        <p:tav tm="100000">
                                          <p:val>
                                            <p:strVal val="ppt_x"/>
                                          </p:val>
                                        </p:tav>
                                      </p:tavLst>
                                    </p:anim>
                                    <p:anim calcmode="lin" valueType="num">
                                      <p:cBhvr>
                                        <p:cTn id="113" dur="664" tmFilter="0.0,0.0;0.25,0.07;0.50,0.2;0.75,0.467;1.0,1.0">
                                          <p:stCondLst>
                                            <p:cond delay="0"/>
                                          </p:stCondLst>
                                        </p:cTn>
                                        <p:tgtEl>
                                          <p:spTgt spid="3">
                                            <p:txEl>
                                              <p:pRg st="5" end="5"/>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4" dur="664" tmFilter="0, 0; 0.125,0.2665; 0.25,0.4; 0.375,0.465; 0.5,0.5;  0.625,0.535; 0.75,0.6; 0.875,0.7335; 1,1">
                                          <p:stCondLst>
                                            <p:cond delay="664"/>
                                          </p:stCondLst>
                                        </p:cTn>
                                        <p:tgtEl>
                                          <p:spTgt spid="3">
                                            <p:txEl>
                                              <p:pRg st="5" end="5"/>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5" dur="332" tmFilter="0, 0; 0.125,0.2665; 0.25,0.4; 0.375,0.465; 0.5,0.5;  0.625,0.535; 0.75,0.6; 0.875,0.7335; 1,1">
                                          <p:stCondLst>
                                            <p:cond delay="1324"/>
                                          </p:stCondLst>
                                        </p:cTn>
                                        <p:tgtEl>
                                          <p:spTgt spid="3">
                                            <p:txEl>
                                              <p:pRg st="5" end="5"/>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6" dur="164" tmFilter="0, 0; 0.125,0.2665; 0.25,0.4; 0.375,0.465; 0.5,0.5;  0.625,0.535; 0.75,0.6; 0.875,0.7335; 1,1">
                                          <p:stCondLst>
                                            <p:cond delay="1656"/>
                                          </p:stCondLst>
                                        </p:cTn>
                                        <p:tgtEl>
                                          <p:spTgt spid="3">
                                            <p:txEl>
                                              <p:pRg st="5" end="5"/>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7" dur="180" accel="50000">
                                          <p:stCondLst>
                                            <p:cond delay="1820"/>
                                          </p:stCondLst>
                                        </p:cTn>
                                        <p:tgtEl>
                                          <p:spTgt spid="3">
                                            <p:txEl>
                                              <p:pRg st="5" end="5"/>
                                            </p:txEl>
                                          </p:spTgt>
                                        </p:tgtEl>
                                        <p:attrNameLst>
                                          <p:attrName>ppt_y</p:attrName>
                                        </p:attrNameLst>
                                      </p:cBhvr>
                                      <p:tavLst>
                                        <p:tav tm="0">
                                          <p:val>
                                            <p:strVal val="ppt_y"/>
                                          </p:val>
                                        </p:tav>
                                        <p:tav tm="100000">
                                          <p:val>
                                            <p:strVal val="ppt_y+ppt_h"/>
                                          </p:val>
                                        </p:tav>
                                      </p:tavLst>
                                    </p:anim>
                                    <p:animScale>
                                      <p:cBhvr>
                                        <p:cTn id="118" dur="26">
                                          <p:stCondLst>
                                            <p:cond delay="620"/>
                                          </p:stCondLst>
                                        </p:cTn>
                                        <p:tgtEl>
                                          <p:spTgt spid="3">
                                            <p:txEl>
                                              <p:pRg st="5" end="5"/>
                                            </p:txEl>
                                          </p:spTgt>
                                        </p:tgtEl>
                                      </p:cBhvr>
                                      <p:to x="100000" y="60000"/>
                                    </p:animScale>
                                    <p:animScale>
                                      <p:cBhvr>
                                        <p:cTn id="119" dur="166" decel="50000">
                                          <p:stCondLst>
                                            <p:cond delay="646"/>
                                          </p:stCondLst>
                                        </p:cTn>
                                        <p:tgtEl>
                                          <p:spTgt spid="3">
                                            <p:txEl>
                                              <p:pRg st="5" end="5"/>
                                            </p:txEl>
                                          </p:spTgt>
                                        </p:tgtEl>
                                      </p:cBhvr>
                                      <p:to x="100000" y="100000"/>
                                    </p:animScale>
                                    <p:animScale>
                                      <p:cBhvr>
                                        <p:cTn id="120" dur="26">
                                          <p:stCondLst>
                                            <p:cond delay="1312"/>
                                          </p:stCondLst>
                                        </p:cTn>
                                        <p:tgtEl>
                                          <p:spTgt spid="3">
                                            <p:txEl>
                                              <p:pRg st="5" end="5"/>
                                            </p:txEl>
                                          </p:spTgt>
                                        </p:tgtEl>
                                      </p:cBhvr>
                                      <p:to x="100000" y="80000"/>
                                    </p:animScale>
                                    <p:animScale>
                                      <p:cBhvr>
                                        <p:cTn id="121" dur="166" decel="50000">
                                          <p:stCondLst>
                                            <p:cond delay="1338"/>
                                          </p:stCondLst>
                                        </p:cTn>
                                        <p:tgtEl>
                                          <p:spTgt spid="3">
                                            <p:txEl>
                                              <p:pRg st="5" end="5"/>
                                            </p:txEl>
                                          </p:spTgt>
                                        </p:tgtEl>
                                      </p:cBhvr>
                                      <p:to x="100000" y="100000"/>
                                    </p:animScale>
                                    <p:animScale>
                                      <p:cBhvr>
                                        <p:cTn id="122" dur="26">
                                          <p:stCondLst>
                                            <p:cond delay="1642"/>
                                          </p:stCondLst>
                                        </p:cTn>
                                        <p:tgtEl>
                                          <p:spTgt spid="3">
                                            <p:txEl>
                                              <p:pRg st="5" end="5"/>
                                            </p:txEl>
                                          </p:spTgt>
                                        </p:tgtEl>
                                      </p:cBhvr>
                                      <p:to x="100000" y="90000"/>
                                    </p:animScale>
                                    <p:animScale>
                                      <p:cBhvr>
                                        <p:cTn id="123" dur="166" decel="50000">
                                          <p:stCondLst>
                                            <p:cond delay="1668"/>
                                          </p:stCondLst>
                                        </p:cTn>
                                        <p:tgtEl>
                                          <p:spTgt spid="3">
                                            <p:txEl>
                                              <p:pRg st="5" end="5"/>
                                            </p:txEl>
                                          </p:spTgt>
                                        </p:tgtEl>
                                      </p:cBhvr>
                                      <p:to x="100000" y="100000"/>
                                    </p:animScale>
                                    <p:animScale>
                                      <p:cBhvr>
                                        <p:cTn id="124" dur="26">
                                          <p:stCondLst>
                                            <p:cond delay="1808"/>
                                          </p:stCondLst>
                                        </p:cTn>
                                        <p:tgtEl>
                                          <p:spTgt spid="3">
                                            <p:txEl>
                                              <p:pRg st="5" end="5"/>
                                            </p:txEl>
                                          </p:spTgt>
                                        </p:tgtEl>
                                      </p:cBhvr>
                                      <p:to x="100000" y="95000"/>
                                    </p:animScale>
                                    <p:animScale>
                                      <p:cBhvr>
                                        <p:cTn id="125" dur="166" decel="50000">
                                          <p:stCondLst>
                                            <p:cond delay="1834"/>
                                          </p:stCondLst>
                                        </p:cTn>
                                        <p:tgtEl>
                                          <p:spTgt spid="3">
                                            <p:txEl>
                                              <p:pRg st="5" end="5"/>
                                            </p:txEl>
                                          </p:spTgt>
                                        </p:tgtEl>
                                      </p:cBhvr>
                                      <p:to x="100000" y="100000"/>
                                    </p:animScale>
                                    <p:set>
                                      <p:cBhvr>
                                        <p:cTn id="126" dur="1" fill="hold">
                                          <p:stCondLst>
                                            <p:cond delay="1999"/>
                                          </p:stCondLst>
                                        </p:cTn>
                                        <p:tgtEl>
                                          <p:spTgt spid="3">
                                            <p:txEl>
                                              <p:pRg st="5" end="5"/>
                                            </p:txEl>
                                          </p:spTgt>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26" presetClass="exit" presetSubtype="0" fill="hold" grpId="0" nodeType="clickEffect">
                                  <p:stCondLst>
                                    <p:cond delay="0"/>
                                  </p:stCondLst>
                                  <p:childTnLst>
                                    <p:animEffect transition="out" filter="wipe(down)">
                                      <p:cBhvr>
                                        <p:cTn id="130" dur="180" accel="50000">
                                          <p:stCondLst>
                                            <p:cond delay="1820"/>
                                          </p:stCondLst>
                                        </p:cTn>
                                        <p:tgtEl>
                                          <p:spTgt spid="3">
                                            <p:txEl>
                                              <p:pRg st="6" end="6"/>
                                            </p:txEl>
                                          </p:spTgt>
                                        </p:tgtEl>
                                      </p:cBhvr>
                                    </p:animEffect>
                                    <p:anim calcmode="lin" valueType="num">
                                      <p:cBhvr>
                                        <p:cTn id="131" dur="1822" tmFilter="0,0; 0.14,0.31; 0.43,0.73; 0.71,0.91; 1.0,1.0">
                                          <p:stCondLst>
                                            <p:cond delay="0"/>
                                          </p:stCondLst>
                                        </p:cTn>
                                        <p:tgtEl>
                                          <p:spTgt spid="3">
                                            <p:txEl>
                                              <p:pRg st="6" end="6"/>
                                            </p:txEl>
                                          </p:spTgt>
                                        </p:tgtEl>
                                        <p:attrNameLst>
                                          <p:attrName>ppt_x</p:attrName>
                                        </p:attrNameLst>
                                      </p:cBhvr>
                                      <p:tavLst>
                                        <p:tav tm="0">
                                          <p:val>
                                            <p:strVal val="ppt_x"/>
                                          </p:val>
                                        </p:tav>
                                        <p:tav tm="100000">
                                          <p:val>
                                            <p:strVal val="#ppt_x+0.25"/>
                                          </p:val>
                                        </p:tav>
                                      </p:tavLst>
                                    </p:anim>
                                    <p:anim calcmode="lin" valueType="num">
                                      <p:cBhvr>
                                        <p:cTn id="132" dur="178">
                                          <p:stCondLst>
                                            <p:cond delay="1822"/>
                                          </p:stCondLst>
                                        </p:cTn>
                                        <p:tgtEl>
                                          <p:spTgt spid="3">
                                            <p:txEl>
                                              <p:pRg st="6" end="6"/>
                                            </p:txEl>
                                          </p:spTgt>
                                        </p:tgtEl>
                                        <p:attrNameLst>
                                          <p:attrName>ppt_x</p:attrName>
                                        </p:attrNameLst>
                                      </p:cBhvr>
                                      <p:tavLst>
                                        <p:tav tm="0">
                                          <p:val>
                                            <p:strVal val="ppt_x"/>
                                          </p:val>
                                        </p:tav>
                                        <p:tav tm="100000">
                                          <p:val>
                                            <p:strVal val="ppt_x"/>
                                          </p:val>
                                        </p:tav>
                                      </p:tavLst>
                                    </p:anim>
                                    <p:anim calcmode="lin" valueType="num">
                                      <p:cBhvr>
                                        <p:cTn id="133" dur="664" tmFilter="0.0,0.0;0.25,0.07;0.50,0.2;0.75,0.467;1.0,1.0">
                                          <p:stCondLst>
                                            <p:cond delay="0"/>
                                          </p:stCondLst>
                                        </p:cTn>
                                        <p:tgtEl>
                                          <p:spTgt spid="3">
                                            <p:txEl>
                                              <p:pRg st="6" end="6"/>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34" dur="664" tmFilter="0, 0; 0.125,0.2665; 0.25,0.4; 0.375,0.465; 0.5,0.5;  0.625,0.535; 0.75,0.6; 0.875,0.7335; 1,1">
                                          <p:stCondLst>
                                            <p:cond delay="664"/>
                                          </p:stCondLst>
                                        </p:cTn>
                                        <p:tgtEl>
                                          <p:spTgt spid="3">
                                            <p:txEl>
                                              <p:pRg st="6" end="6"/>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35" dur="332" tmFilter="0, 0; 0.125,0.2665; 0.25,0.4; 0.375,0.465; 0.5,0.5;  0.625,0.535; 0.75,0.6; 0.875,0.7335; 1,1">
                                          <p:stCondLst>
                                            <p:cond delay="1324"/>
                                          </p:stCondLst>
                                        </p:cTn>
                                        <p:tgtEl>
                                          <p:spTgt spid="3">
                                            <p:txEl>
                                              <p:pRg st="6" end="6"/>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36" dur="164" tmFilter="0, 0; 0.125,0.2665; 0.25,0.4; 0.375,0.465; 0.5,0.5;  0.625,0.535; 0.75,0.6; 0.875,0.7335; 1,1">
                                          <p:stCondLst>
                                            <p:cond delay="1656"/>
                                          </p:stCondLst>
                                        </p:cTn>
                                        <p:tgtEl>
                                          <p:spTgt spid="3">
                                            <p:txEl>
                                              <p:pRg st="6" end="6"/>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7" dur="180" accel="50000">
                                          <p:stCondLst>
                                            <p:cond delay="1820"/>
                                          </p:stCondLst>
                                        </p:cTn>
                                        <p:tgtEl>
                                          <p:spTgt spid="3">
                                            <p:txEl>
                                              <p:pRg st="6" end="6"/>
                                            </p:txEl>
                                          </p:spTgt>
                                        </p:tgtEl>
                                        <p:attrNameLst>
                                          <p:attrName>ppt_y</p:attrName>
                                        </p:attrNameLst>
                                      </p:cBhvr>
                                      <p:tavLst>
                                        <p:tav tm="0">
                                          <p:val>
                                            <p:strVal val="ppt_y"/>
                                          </p:val>
                                        </p:tav>
                                        <p:tav tm="100000">
                                          <p:val>
                                            <p:strVal val="ppt_y+ppt_h"/>
                                          </p:val>
                                        </p:tav>
                                      </p:tavLst>
                                    </p:anim>
                                    <p:animScale>
                                      <p:cBhvr>
                                        <p:cTn id="138" dur="26">
                                          <p:stCondLst>
                                            <p:cond delay="620"/>
                                          </p:stCondLst>
                                        </p:cTn>
                                        <p:tgtEl>
                                          <p:spTgt spid="3">
                                            <p:txEl>
                                              <p:pRg st="6" end="6"/>
                                            </p:txEl>
                                          </p:spTgt>
                                        </p:tgtEl>
                                      </p:cBhvr>
                                      <p:to x="100000" y="60000"/>
                                    </p:animScale>
                                    <p:animScale>
                                      <p:cBhvr>
                                        <p:cTn id="139" dur="166" decel="50000">
                                          <p:stCondLst>
                                            <p:cond delay="646"/>
                                          </p:stCondLst>
                                        </p:cTn>
                                        <p:tgtEl>
                                          <p:spTgt spid="3">
                                            <p:txEl>
                                              <p:pRg st="6" end="6"/>
                                            </p:txEl>
                                          </p:spTgt>
                                        </p:tgtEl>
                                      </p:cBhvr>
                                      <p:to x="100000" y="100000"/>
                                    </p:animScale>
                                    <p:animScale>
                                      <p:cBhvr>
                                        <p:cTn id="140" dur="26">
                                          <p:stCondLst>
                                            <p:cond delay="1312"/>
                                          </p:stCondLst>
                                        </p:cTn>
                                        <p:tgtEl>
                                          <p:spTgt spid="3">
                                            <p:txEl>
                                              <p:pRg st="6" end="6"/>
                                            </p:txEl>
                                          </p:spTgt>
                                        </p:tgtEl>
                                      </p:cBhvr>
                                      <p:to x="100000" y="80000"/>
                                    </p:animScale>
                                    <p:animScale>
                                      <p:cBhvr>
                                        <p:cTn id="141" dur="166" decel="50000">
                                          <p:stCondLst>
                                            <p:cond delay="1338"/>
                                          </p:stCondLst>
                                        </p:cTn>
                                        <p:tgtEl>
                                          <p:spTgt spid="3">
                                            <p:txEl>
                                              <p:pRg st="6" end="6"/>
                                            </p:txEl>
                                          </p:spTgt>
                                        </p:tgtEl>
                                      </p:cBhvr>
                                      <p:to x="100000" y="100000"/>
                                    </p:animScale>
                                    <p:animScale>
                                      <p:cBhvr>
                                        <p:cTn id="142" dur="26">
                                          <p:stCondLst>
                                            <p:cond delay="1642"/>
                                          </p:stCondLst>
                                        </p:cTn>
                                        <p:tgtEl>
                                          <p:spTgt spid="3">
                                            <p:txEl>
                                              <p:pRg st="6" end="6"/>
                                            </p:txEl>
                                          </p:spTgt>
                                        </p:tgtEl>
                                      </p:cBhvr>
                                      <p:to x="100000" y="90000"/>
                                    </p:animScale>
                                    <p:animScale>
                                      <p:cBhvr>
                                        <p:cTn id="143" dur="166" decel="50000">
                                          <p:stCondLst>
                                            <p:cond delay="1668"/>
                                          </p:stCondLst>
                                        </p:cTn>
                                        <p:tgtEl>
                                          <p:spTgt spid="3">
                                            <p:txEl>
                                              <p:pRg st="6" end="6"/>
                                            </p:txEl>
                                          </p:spTgt>
                                        </p:tgtEl>
                                      </p:cBhvr>
                                      <p:to x="100000" y="100000"/>
                                    </p:animScale>
                                    <p:animScale>
                                      <p:cBhvr>
                                        <p:cTn id="144" dur="26">
                                          <p:stCondLst>
                                            <p:cond delay="1808"/>
                                          </p:stCondLst>
                                        </p:cTn>
                                        <p:tgtEl>
                                          <p:spTgt spid="3">
                                            <p:txEl>
                                              <p:pRg st="6" end="6"/>
                                            </p:txEl>
                                          </p:spTgt>
                                        </p:tgtEl>
                                      </p:cBhvr>
                                      <p:to x="100000" y="95000"/>
                                    </p:animScale>
                                    <p:animScale>
                                      <p:cBhvr>
                                        <p:cTn id="145" dur="166" decel="50000">
                                          <p:stCondLst>
                                            <p:cond delay="1834"/>
                                          </p:stCondLst>
                                        </p:cTn>
                                        <p:tgtEl>
                                          <p:spTgt spid="3">
                                            <p:txEl>
                                              <p:pRg st="6" end="6"/>
                                            </p:txEl>
                                          </p:spTgt>
                                        </p:tgtEl>
                                      </p:cBhvr>
                                      <p:to x="100000" y="100000"/>
                                    </p:animScale>
                                    <p:set>
                                      <p:cBhvr>
                                        <p:cTn id="146" dur="1" fill="hold">
                                          <p:stCondLst>
                                            <p:cond delay="1999"/>
                                          </p:stCondLst>
                                        </p:cTn>
                                        <p:tgtEl>
                                          <p:spTgt spid="3">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B738-5E35-B180-13D6-725C41A41C4C}"/>
              </a:ext>
            </a:extLst>
          </p:cNvPr>
          <p:cNvSpPr>
            <a:spLocks noGrp="1"/>
          </p:cNvSpPr>
          <p:nvPr>
            <p:ph type="title"/>
          </p:nvPr>
        </p:nvSpPr>
        <p:spPr>
          <a:xfrm>
            <a:off x="1154954" y="215900"/>
            <a:ext cx="8825659" cy="736600"/>
          </a:xfrm>
        </p:spPr>
        <p:txBody>
          <a:bodyPr/>
          <a:lstStyle/>
          <a:p>
            <a:pPr algn="ctr"/>
            <a:r>
              <a:rPr lang="en-US" sz="3200" b="1" i="0" u="sng" dirty="0">
                <a:solidFill>
                  <a:srgbClr val="339933"/>
                </a:solidFill>
                <a:effectLst/>
                <a:latin typeface="__Inter_bdbe8e"/>
              </a:rPr>
              <a:t>Strategies for Strengthening Your Cybersecurity</a:t>
            </a:r>
            <a:br>
              <a:rPr lang="en-US" sz="3200" b="1" i="0" u="sng" dirty="0">
                <a:solidFill>
                  <a:srgbClr val="339933"/>
                </a:solidFill>
                <a:effectLst/>
                <a:latin typeface="__Inter_bdbe8e"/>
              </a:rPr>
            </a:br>
            <a:br>
              <a:rPr lang="en-US" sz="3200" b="1" u="sng" dirty="0">
                <a:solidFill>
                  <a:srgbClr val="339933"/>
                </a:solidFill>
              </a:rPr>
            </a:br>
            <a:endParaRPr lang="en-PK" sz="3200" b="1" u="sng" dirty="0">
              <a:solidFill>
                <a:srgbClr val="339933"/>
              </a:solidFill>
            </a:endParaRPr>
          </a:p>
        </p:txBody>
      </p:sp>
      <p:sp>
        <p:nvSpPr>
          <p:cNvPr id="3" name="Text Placeholder 2">
            <a:extLst>
              <a:ext uri="{FF2B5EF4-FFF2-40B4-BE49-F238E27FC236}">
                <a16:creationId xmlns:a16="http://schemas.microsoft.com/office/drawing/2014/main" id="{79678ABA-C498-2F0A-9131-0C158C200352}"/>
              </a:ext>
            </a:extLst>
          </p:cNvPr>
          <p:cNvSpPr>
            <a:spLocks noGrp="1"/>
          </p:cNvSpPr>
          <p:nvPr>
            <p:ph type="body" sz="half" idx="2"/>
          </p:nvPr>
        </p:nvSpPr>
        <p:spPr>
          <a:xfrm>
            <a:off x="1154954" y="952500"/>
            <a:ext cx="8825659" cy="5067300"/>
          </a:xfrm>
        </p:spPr>
        <p:txBody>
          <a:bodyPr>
            <a:normAutofit fontScale="92500" lnSpcReduction="10000"/>
          </a:bodyPr>
          <a:lstStyle/>
          <a:p>
            <a:pPr marL="285750" indent="-285750">
              <a:buFont typeface="Arial" panose="020B0604020202020204" pitchFamily="34" charset="0"/>
              <a:buChar char="•"/>
            </a:pPr>
            <a:r>
              <a:rPr lang="en-US" b="0" i="0" dirty="0">
                <a:solidFill>
                  <a:srgbClr val="339933"/>
                </a:solidFill>
                <a:effectLst/>
                <a:latin typeface="__Inter_bdbe8e"/>
              </a:rPr>
              <a:t>Once you're familiar with the range of potential cyber threats, it's crucial to fortify your defenses. Here are some practical steps to enhance your cybersecurity framework:</a:t>
            </a:r>
            <a:br>
              <a:rPr lang="en-US" b="0" i="0" dirty="0">
                <a:solidFill>
                  <a:srgbClr val="339933"/>
                </a:solidFill>
                <a:effectLst/>
                <a:latin typeface="__Inter_bdbe8e"/>
              </a:rPr>
            </a:br>
            <a:br>
              <a:rPr lang="en-US" b="0" i="0" dirty="0">
                <a:solidFill>
                  <a:srgbClr val="339933"/>
                </a:solidFill>
                <a:effectLst/>
                <a:latin typeface="__Inter_bdbe8e"/>
              </a:rPr>
            </a:br>
            <a:r>
              <a:rPr lang="en-US" b="0" i="0" dirty="0">
                <a:solidFill>
                  <a:srgbClr val="339933"/>
                </a:solidFill>
                <a:effectLst/>
                <a:latin typeface="__Inter_bdbe8e"/>
              </a:rPr>
              <a:t>Be vigilant against suspicious emails, messages, or links from unknown sources, especially those requesting personal information.</a:t>
            </a:r>
          </a:p>
          <a:p>
            <a:pPr marL="285750" indent="-285750">
              <a:buFont typeface="Arial" panose="020B0604020202020204" pitchFamily="34" charset="0"/>
              <a:buChar char="•"/>
            </a:pPr>
            <a:r>
              <a:rPr lang="en-US" b="0" i="0" dirty="0">
                <a:solidFill>
                  <a:schemeClr val="tx1">
                    <a:lumMod val="95000"/>
                  </a:schemeClr>
                </a:solidFill>
                <a:effectLst/>
                <a:latin typeface="__Inter_bdbe8e"/>
              </a:rPr>
              <a:t>Change your passwords and PINs regularly, opting for complex and unique combinations to prevent unauthorized access.</a:t>
            </a:r>
          </a:p>
          <a:p>
            <a:pPr marL="285750" indent="-285750">
              <a:buFont typeface="Arial" panose="020B0604020202020204" pitchFamily="34" charset="0"/>
              <a:buChar char="•"/>
            </a:pPr>
            <a:r>
              <a:rPr lang="en-US" b="0" i="0" dirty="0">
                <a:solidFill>
                  <a:schemeClr val="tx1">
                    <a:lumMod val="95000"/>
                  </a:schemeClr>
                </a:solidFill>
                <a:effectLst/>
                <a:latin typeface="__Inter_bdbe8e"/>
              </a:rPr>
              <a:t>Avoid connecting to public or unsecured Wi-Fi networks, as these can expose your devices to cyber intrusions.</a:t>
            </a:r>
          </a:p>
          <a:p>
            <a:pPr marL="285750" indent="-285750">
              <a:buFont typeface="Arial" panose="020B0604020202020204" pitchFamily="34" charset="0"/>
              <a:buChar char="•"/>
            </a:pPr>
            <a:r>
              <a:rPr lang="en-US" b="0" i="0" dirty="0">
                <a:solidFill>
                  <a:schemeClr val="tx1">
                    <a:lumMod val="95000"/>
                  </a:schemeClr>
                </a:solidFill>
                <a:effectLst/>
                <a:latin typeface="__Inter_bdbe8e"/>
              </a:rPr>
              <a:t>Maintain a reliable and secure backup of your important data.</a:t>
            </a:r>
          </a:p>
          <a:p>
            <a:pPr marL="285750" indent="-285750">
              <a:buFont typeface="Arial" panose="020B0604020202020204" pitchFamily="34" charset="0"/>
              <a:buChar char="•"/>
            </a:pPr>
            <a:r>
              <a:rPr lang="en-US" b="0" i="0" dirty="0">
                <a:solidFill>
                  <a:schemeClr val="tx1">
                    <a:lumMod val="95000"/>
                  </a:schemeClr>
                </a:solidFill>
                <a:effectLst/>
                <a:latin typeface="__Inter_bdbe8e"/>
              </a:rPr>
              <a:t>Implement advanced cybersecurity tools such as Identity and Access Management (IAM), Security Information and Event Management (SIEM), and comprehensive data protection platforms.</a:t>
            </a:r>
          </a:p>
          <a:p>
            <a:pPr marL="285750" indent="-285750">
              <a:buFont typeface="Arial" panose="020B0604020202020204" pitchFamily="34" charset="0"/>
              <a:buChar char="•"/>
            </a:pPr>
            <a:r>
              <a:rPr lang="en-US" b="0" i="0" dirty="0">
                <a:solidFill>
                  <a:schemeClr val="tx1">
                    <a:lumMod val="95000"/>
                  </a:schemeClr>
                </a:solidFill>
                <a:effectLst/>
                <a:latin typeface="__Inter_bdbe8e"/>
              </a:rPr>
              <a:t>Train your team and conduct regular checks to reduce risks from internal threats.</a:t>
            </a:r>
          </a:p>
          <a:p>
            <a:pPr marL="285750" indent="-285750">
              <a:buFont typeface="Arial" panose="020B0604020202020204" pitchFamily="34" charset="0"/>
              <a:buChar char="•"/>
            </a:pPr>
            <a:r>
              <a:rPr lang="en-US" b="0" i="0" dirty="0">
                <a:solidFill>
                  <a:schemeClr val="tx1">
                    <a:lumMod val="95000"/>
                  </a:schemeClr>
                </a:solidFill>
                <a:effectLst/>
                <a:latin typeface="__Inter_bdbe8e"/>
              </a:rPr>
              <a:t>Consider adopting Third-Party Risk Management (TPRM) to oversee external vendor security.</a:t>
            </a:r>
          </a:p>
          <a:p>
            <a:pPr marL="285750" indent="-285750">
              <a:buFont typeface="Arial" panose="020B0604020202020204" pitchFamily="34" charset="0"/>
              <a:buChar char="•"/>
            </a:pPr>
            <a:r>
              <a:rPr lang="en-US" b="0" i="0" dirty="0">
                <a:solidFill>
                  <a:schemeClr val="tx1">
                    <a:lumMod val="95000"/>
                  </a:schemeClr>
                </a:solidFill>
                <a:effectLst/>
                <a:latin typeface="__Inter_bdbe8e"/>
              </a:rPr>
              <a:t>Employ skilled IT professionals who can identify vulnerabilities and defend against hacking attempts.</a:t>
            </a:r>
            <a:endParaRPr lang="en-PK" dirty="0">
              <a:solidFill>
                <a:schemeClr val="tx1">
                  <a:lumMod val="95000"/>
                </a:schemeClr>
              </a:solidFill>
            </a:endParaRPr>
          </a:p>
        </p:txBody>
      </p:sp>
    </p:spTree>
    <p:extLst>
      <p:ext uri="{BB962C8B-B14F-4D97-AF65-F5344CB8AC3E}">
        <p14:creationId xmlns:p14="http://schemas.microsoft.com/office/powerpoint/2010/main" val="608068498"/>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3"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CF0285-CBA3-7016-B146-921C9CEB89FF}"/>
              </a:ext>
            </a:extLst>
          </p:cNvPr>
          <p:cNvSpPr txBox="1"/>
          <p:nvPr/>
        </p:nvSpPr>
        <p:spPr>
          <a:xfrm>
            <a:off x="3390900" y="2875002"/>
            <a:ext cx="4800600" cy="1107996"/>
          </a:xfrm>
          <a:prstGeom prst="rect">
            <a:avLst/>
          </a:prstGeom>
          <a:noFill/>
        </p:spPr>
        <p:txBody>
          <a:bodyPr wrap="square" rtlCol="0">
            <a:spAutoFit/>
          </a:bodyPr>
          <a:lstStyle/>
          <a:p>
            <a:pPr algn="ctr"/>
            <a:r>
              <a:rPr lang="en-US" sz="6600" b="1" i="0" dirty="0">
                <a:solidFill>
                  <a:schemeClr val="tx1">
                    <a:lumMod val="95000"/>
                  </a:schemeClr>
                </a:solidFill>
                <a:effectLst/>
                <a:latin typeface="__Inter_bdbe8e"/>
              </a:rPr>
              <a:t>Thank you</a:t>
            </a:r>
            <a:endParaRPr lang="en-PK" sz="6600" b="1" dirty="0">
              <a:solidFill>
                <a:schemeClr val="tx1">
                  <a:lumMod val="95000"/>
                </a:schemeClr>
              </a:solidFill>
            </a:endParaRPr>
          </a:p>
        </p:txBody>
      </p:sp>
    </p:spTree>
    <p:extLst>
      <p:ext uri="{BB962C8B-B14F-4D97-AF65-F5344CB8AC3E}">
        <p14:creationId xmlns:p14="http://schemas.microsoft.com/office/powerpoint/2010/main" val="3469955787"/>
      </p:ext>
    </p:extLst>
  </p:cSld>
  <p:clrMapOvr>
    <a:masterClrMapping/>
  </p:clrMapOvr>
  <mc:AlternateContent xmlns:mc="http://schemas.openxmlformats.org/markup-compatibility/2006" xmlns:p14="http://schemas.microsoft.com/office/powerpoint/2010/main">
    <mc:Choice Requires="p14">
      <p:transition spd="slow" p14:dur="5000" advTm="0">
        <p:push dir="r"/>
        <p:sndAc>
          <p:stSnd>
            <p:snd r:embed="rId2" name="voltage.wav"/>
          </p:stSnd>
        </p:sndAc>
      </p:transition>
    </mc:Choice>
    <mc:Fallback xmlns="">
      <p:transition spd="slow" advTm="0">
        <p:push dir="r"/>
        <p:sndAc>
          <p:stSnd>
            <p:snd r:embed="rId3" name="voltag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mph" presetSubtype="0" fill="hold" grpId="0" nodeType="clickEffect">
                                  <p:stCondLst>
                                    <p:cond delay="0"/>
                                  </p:stCondLst>
                                  <p:childTnLst>
                                    <p:anim calcmode="discrete" valueType="str">
                                      <p:cBhvr override="childStyle">
                                        <p:cTn id="6" dur="2000" fill="hold"/>
                                        <p:tgtEl>
                                          <p:spTgt spid="2"/>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53</TotalTime>
  <Words>1304</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__Inter_bdbe8e</vt:lpstr>
      <vt:lpstr>Arial</vt:lpstr>
      <vt:lpstr>Century Gothic</vt:lpstr>
      <vt:lpstr>Wingdings 3</vt:lpstr>
      <vt:lpstr>Ion</vt:lpstr>
      <vt:lpstr>PowerPoint Presentation</vt:lpstr>
      <vt:lpstr>Introduction</vt:lpstr>
      <vt:lpstr>PowerPoint Presentation</vt:lpstr>
      <vt:lpstr>Core Components of Cyber Security </vt:lpstr>
      <vt:lpstr>PowerPoint Presentation</vt:lpstr>
      <vt:lpstr>Why is Cybersecurity Crucial?  </vt:lpstr>
      <vt:lpstr>CYBER THREATS  </vt:lpstr>
      <vt:lpstr>Techniques Used in Cyber Attacks  </vt:lpstr>
      <vt:lpstr>Strategies for Strengthening Your Cybersecurity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dc:creator>
  <cp:lastModifiedBy>student</cp:lastModifiedBy>
  <cp:revision>3</cp:revision>
  <dcterms:created xsi:type="dcterms:W3CDTF">2026-02-10T10:57:17Z</dcterms:created>
  <dcterms:modified xsi:type="dcterms:W3CDTF">2026-02-10T11:52:43Z</dcterms:modified>
</cp:coreProperties>
</file>